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4"/>
  </p:sldMasterIdLst>
  <p:notesMasterIdLst>
    <p:notesMasterId r:id="rId6"/>
  </p:notesMasterIdLst>
  <p:sldIdLst>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A950"/>
    <a:srgbClr val="B2D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59" autoAdjust="0"/>
    <p:restoredTop sz="96327"/>
  </p:normalViewPr>
  <p:slideViewPr>
    <p:cSldViewPr snapToGrid="0" snapToObjects="1" showGuides="1">
      <p:cViewPr varScale="1">
        <p:scale>
          <a:sx n="126" d="100"/>
          <a:sy n="126" d="100"/>
        </p:scale>
        <p:origin x="240" y="192"/>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59A375-B218-184B-B243-CB7E0F1616A7}" type="datetimeFigureOut">
              <a:rPr lang="en-US" smtClean="0"/>
              <a:t>6/23/26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D5F0F0-3408-9F4A-9B24-898CD7F5D4E4}" type="slidenum">
              <a:rPr lang="en-US" smtClean="0"/>
              <a:t>‹#›</a:t>
            </a:fld>
            <a:endParaRPr lang="en-US" dirty="0"/>
          </a:p>
        </p:txBody>
      </p:sp>
    </p:spTree>
    <p:extLst>
      <p:ext uri="{BB962C8B-B14F-4D97-AF65-F5344CB8AC3E}">
        <p14:creationId xmlns:p14="http://schemas.microsoft.com/office/powerpoint/2010/main" val="1727006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D5F0F0-3408-9F4A-9B24-898CD7F5D4E4}" type="slidenum">
              <a:rPr lang="en-US" smtClean="0"/>
              <a:t>1</a:t>
            </a:fld>
            <a:endParaRPr lang="en-US" dirty="0"/>
          </a:p>
        </p:txBody>
      </p:sp>
    </p:spTree>
    <p:extLst>
      <p:ext uri="{BB962C8B-B14F-4D97-AF65-F5344CB8AC3E}">
        <p14:creationId xmlns:p14="http://schemas.microsoft.com/office/powerpoint/2010/main" val="1100815745"/>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 want to put in front of you is deceptively simple. You have a volume. You have a limited number of people who can proofread it. When do you stop — and how do you know the answer you get out is one you can trust? I think this is best understood not as a quality problem but as an optimization problem, and that framing is what the next nine minutes are about.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what engineering actually is: problem-solving under constraints. Our problem is to test a hypothesis using connectomics — a specific inference, not “reconstruct everything.” Our constraint is a finite supply of noisy, expensive expert judgment. Noisy matters: even experts disagree, so there is no free ground truth to check against. Put those together and the question stops being “is the connectome done” — a property of the dataset — and becomes “have we spent enough to trust this answer,” which is a decision about resources.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resource we’re optimizing is expert judgment, and it has three properties. It’s limited — real volumes cost person-years. It’s noisy — experts disagree, which means ground truth isn’t free; it’s another thing you have to spend to get. And the work is heterogeneous — decisions differ wildly in difficulty and, crucially, in how much they matter. The moment the decisions aren’t interchangeable, a single global ‘enough’ threshold stops making sense.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heterogeneity of consequence is the crux. The distribution of how much an edit changes your inference is wildly skewed: most edits barely move it, a few rewrite it. The worked case is our own motif work — a triad census can swing on exactly the edits a global completeness metric never flags, because completeness averages all connectivity flat and a motif weights specific edges. The punchline is uncomfortable: the high-consequence decisions are rare, and they’re also the ambiguous ones where even experts disagree most. Most truth where it matters least; least where it matters most. (Schematic, not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gap nobody saw — I want to be honest about that. Three lines of work circled it. One defined ‘enough’ globally: connectivity proxies and completeness metrics, including my own — i2g and CONFIRMS measured whether the wiring was recovered, treating all connectivity as fungible. That’s the thing I got wrong then. A second line just made each edit cheaper — focused proofreading, Autoproof, RoboEM — without defining enough at all. And a third actually used analysis outcome as the metric: RoboEM explicitly validated automation by whether connectomic analysis survived, and our motif work did it per output. So task-relativity is in the air. What’s still missing is the operational part: a way to spend limited, noisy expert effort against an inference — not a metric to certify a finished method, but a framework to allocate proofreading while it’s happening.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budget buys two different things, which people tend to blur. Correction changes the connectome — fixing merges and splits. Validation tells you whether you can trust it — that’s the CONFIRMS and MICrONS assessment line, no editing involved. They draw on the same scarce expert pool but produce different things, and the split between them is itself part of the optimization. A high-consequence region may be worth validating heavily; a low-consequence one may not be worth correcting at all. If you collapse the two into one undifferentiated ‘proofreading’ budget, you lose the most interesting decision you actually have.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you allocate? Two axes. Impact — how much a decision moves the inference. Risk — how likely it’s wrong, which here means how much annotators disagree. The expensive expert budget goes to the top-right: high impact, high uncertainty. High impact but already agreed — validate, don’t keep editing. Low impact, uncertain — make it cheap or let a machine do it. Low impact, agreed — skip it. This is also where the human comes back in: you route not just effort but the right annotator to the cell they’re calibrated for.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piece that makes the whole thing operational. You can’t allocate a resource you can’t measure — so you have to price expert judgment, which means characterizing the proofreaders: per-task, per-region competence, and how much they agree with each other. This is where the ‘why can some people see neurons and others can’t’ question lives — but as a measurement of the task, not a verdict on people. And it forces a precise definition of ‘reliable.’ Since experts disagree, there is no gold standard to match. Reliable has to mean converged agreement on the specific decisions the inference depends on. We spend enormous effort calibrating the microscope; the uncharacterized term is the person, and this is how you characterize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honest status, which is better than ‘we have an idea.’ We’ve already run a version of this. On Minnie65, through NeuVue, we promoted students to expert-level tasks once their decisions agreed with experts — a calibration-and-routing mechanism that actually shipped. But be clear about what that is: it’s selection on outcome. We promoted people after they’d demonstrated agreement. The open question — the summer experiment — is whether we can predict competence from early behavior, prospectively and pre-registered, rather than certifying it after the fact. If we can’t, the idea fails, and I’ll tell you. That’s the line between a mechanism that works operationally and a claim that it’s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close the loop. The right question about a connectome isn’t whether it’s done — it’s whether we’ve spent our limited, noisy expert budget well enough to trust the answer to a specific question. That’s an optimization problem. It needs an impact-times-risk structure over decisions, and it needs us to price the budget by characterizing the people spending it. We calibrate the microscope obsessively. The next interesting thing is to take the person in front of it just as seriously. Thanks.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9.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 Id="rId3" Type="http://schemas.openxmlformats.org/officeDocument/2006/relationships/image" Target="../media/image10.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9.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1 Dark">
    <p:spTree>
      <p:nvGrpSpPr>
        <p:cNvPr id="1" name=""/>
        <p:cNvGrpSpPr/>
        <p:nvPr/>
      </p:nvGrpSpPr>
      <p:grpSpPr>
        <a:xfrm>
          <a:off x="0" y="0"/>
          <a:ext cx="0" cy="0"/>
          <a:chOff x="0" y="0"/>
          <a:chExt cx="0" cy="0"/>
        </a:xfrm>
      </p:grpSpPr>
      <p:sp>
        <p:nvSpPr>
          <p:cNvPr id="17" name="Date Placeholder 16"/>
          <p:cNvSpPr>
            <a:spLocks noGrp="1"/>
          </p:cNvSpPr>
          <p:nvPr>
            <p:ph type="dt" sz="half" idx="14"/>
          </p:nvPr>
        </p:nvSpPr>
        <p:spPr/>
        <p:txBody>
          <a:bodyPr/>
          <a:lstStyle/>
          <a:p>
            <a:fld id="{03AE6764-091D-4B77-8756-B5D91EEABF5A}" type="datetime3">
              <a:rPr lang="en-US" smtClean="0"/>
              <a:t>23 June 2026</a:t>
            </a:fld>
            <a:endParaRPr lang="en-US" dirty="0"/>
          </a:p>
        </p:txBody>
      </p:sp>
      <p:sp>
        <p:nvSpPr>
          <p:cNvPr id="18" name="Footer Placeholder 17"/>
          <p:cNvSpPr>
            <a:spLocks noGrp="1"/>
          </p:cNvSpPr>
          <p:nvPr>
            <p:ph type="ftr" sz="quarter" idx="15"/>
          </p:nvPr>
        </p:nvSpPr>
        <p:spPr/>
        <p:txBody>
          <a:bodyPr/>
          <a:lstStyle/>
          <a:p>
            <a:endParaRPr lang="en-US" dirty="0"/>
          </a:p>
        </p:txBody>
      </p:sp>
      <p:sp>
        <p:nvSpPr>
          <p:cNvPr id="19" name="Slide Number Placeholder 18"/>
          <p:cNvSpPr>
            <a:spLocks noGrp="1"/>
          </p:cNvSpPr>
          <p:nvPr>
            <p:ph type="sldNum" sz="quarter" idx="16"/>
          </p:nvPr>
        </p:nvSpPr>
        <p:spPr/>
        <p:txBody>
          <a:bodyPr/>
          <a:lstStyle/>
          <a:p>
            <a:fld id="{4EBCDCBD-78E1-0D41-A999-31B5EBF8E02C}" type="slidenum">
              <a:rPr lang="en-US" smtClean="0"/>
              <a:pPr/>
              <a:t>‹#›</a:t>
            </a:fld>
            <a:endParaRPr lang="en-US" dirty="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74" y="0"/>
            <a:ext cx="12189624" cy="6856664"/>
          </a:xfrm>
          <a:prstGeom prst="rect">
            <a:avLst/>
          </a:prstGeom>
          <a:ln>
            <a:noFill/>
          </a:ln>
        </p:spPr>
      </p:pic>
      <p:sp>
        <p:nvSpPr>
          <p:cNvPr id="10" name="Rectangle 9"/>
          <p:cNvSpPr/>
          <p:nvPr/>
        </p:nvSpPr>
        <p:spPr>
          <a:xfrm>
            <a:off x="0" y="4358640"/>
            <a:ext cx="12192000" cy="2499360"/>
          </a:xfrm>
          <a:prstGeom prst="rect">
            <a:avLst/>
          </a:prstGeom>
          <a:gradFill>
            <a:gsLst>
              <a:gs pos="0">
                <a:schemeClr val="accent1">
                  <a:lumMod val="50000"/>
                  <a:alpha val="0"/>
                </a:schemeClr>
              </a:gs>
              <a:gs pos="100000">
                <a:schemeClr val="accent1">
                  <a:lumMod val="50000"/>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685800" y="2324100"/>
            <a:ext cx="9144000" cy="1572399"/>
          </a:xfrm>
        </p:spPr>
        <p:txBody>
          <a:bodyPr anchor="b">
            <a:normAutofit/>
          </a:bodyPr>
          <a:lstStyle>
            <a:lvl1pPr algn="l">
              <a:defRPr sz="4000">
                <a:solidFill>
                  <a:schemeClr val="bg1"/>
                </a:solidFill>
              </a:defRPr>
            </a:lvl1pPr>
          </a:lstStyle>
          <a:p>
            <a:r>
              <a:rPr lang="en-US" dirty="0"/>
              <a:t>Click to add title</a:t>
            </a:r>
          </a:p>
        </p:txBody>
      </p:sp>
      <p:sp>
        <p:nvSpPr>
          <p:cNvPr id="3" name="Subtitle 2"/>
          <p:cNvSpPr>
            <a:spLocks noGrp="1"/>
          </p:cNvSpPr>
          <p:nvPr>
            <p:ph type="subTitle" idx="1" hasCustomPrompt="1"/>
          </p:nvPr>
        </p:nvSpPr>
        <p:spPr>
          <a:xfrm>
            <a:off x="685800" y="4038600"/>
            <a:ext cx="9144000" cy="837532"/>
          </a:xfrm>
        </p:spPr>
        <p:txBody>
          <a:bodyPr lIns="0" tIns="0" rIns="0" bIns="0"/>
          <a:lstStyle>
            <a:lvl1pPr marL="0" indent="0" algn="l">
              <a:buNone/>
              <a:defRPr sz="2400" b="1">
                <a:solidFill>
                  <a:schemeClr val="accent2">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 </a:t>
            </a:r>
          </a:p>
        </p:txBody>
      </p:sp>
      <p:sp>
        <p:nvSpPr>
          <p:cNvPr id="12" name="Text Placeholder 11"/>
          <p:cNvSpPr>
            <a:spLocks noGrp="1"/>
          </p:cNvSpPr>
          <p:nvPr>
            <p:ph type="body" sz="quarter" idx="13" hasCustomPrompt="1"/>
          </p:nvPr>
        </p:nvSpPr>
        <p:spPr>
          <a:xfrm>
            <a:off x="685800" y="4876800"/>
            <a:ext cx="5410200" cy="1333500"/>
          </a:xfrm>
        </p:spPr>
        <p:txBody>
          <a:bodyPr lIns="0" tIns="0" rIns="0" bIns="0">
            <a:normAutofit/>
          </a:bodyPr>
          <a:lstStyle>
            <a:lvl1pPr marL="0" indent="0">
              <a:lnSpc>
                <a:spcPct val="100000"/>
              </a:lnSpc>
              <a:spcBef>
                <a:spcPts val="0"/>
              </a:spcBef>
              <a:buNone/>
              <a:defRPr sz="1400">
                <a:solidFill>
                  <a:schemeClr val="accent2">
                    <a:lumMod val="60000"/>
                    <a:lumOff val="4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009" y="95382"/>
            <a:ext cx="3178301" cy="1309907"/>
          </a:xfrm>
          <a:prstGeom prst="rect">
            <a:avLst/>
          </a:prstGeom>
        </p:spPr>
      </p:pic>
    </p:spTree>
  </p:cSld>
  <p:clrMapOvr>
    <a:masterClrMapping/>
  </p:clrMapOvr>
  <p:extLst>
    <p:ext uri="{DCECCB84-F9BA-43D5-87BE-67443E8EF086}">
      <p15:sldGuideLst xmlns:p15="http://schemas.microsoft.com/office/powerpoint/2012/main">
        <p15:guide id="2" pos="43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1 Light">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67"/>
            <a:ext cx="12189624" cy="6856664"/>
          </a:xfrm>
          <a:prstGeom prst="rect">
            <a:avLst/>
          </a:prstGeom>
        </p:spPr>
      </p:pic>
      <p:sp>
        <p:nvSpPr>
          <p:cNvPr id="2" name="Title 1"/>
          <p:cNvSpPr>
            <a:spLocks noGrp="1"/>
          </p:cNvSpPr>
          <p:nvPr>
            <p:ph type="ctrTitle" hasCustomPrompt="1"/>
          </p:nvPr>
        </p:nvSpPr>
        <p:spPr>
          <a:xfrm>
            <a:off x="685800" y="2324100"/>
            <a:ext cx="9144000" cy="1572399"/>
          </a:xfrm>
        </p:spPr>
        <p:txBody>
          <a:bodyPr anchor="b">
            <a:normAutofit/>
          </a:bodyPr>
          <a:lstStyle>
            <a:lvl1pPr algn="l">
              <a:defRPr sz="4000"/>
            </a:lvl1pPr>
          </a:lstStyle>
          <a:p>
            <a:r>
              <a:rPr lang="en-US" dirty="0"/>
              <a:t>Click to add title</a:t>
            </a:r>
          </a:p>
        </p:txBody>
      </p:sp>
      <p:sp>
        <p:nvSpPr>
          <p:cNvPr id="3" name="Subtitle 2"/>
          <p:cNvSpPr>
            <a:spLocks noGrp="1"/>
          </p:cNvSpPr>
          <p:nvPr>
            <p:ph type="subTitle" idx="1" hasCustomPrompt="1"/>
          </p:nvPr>
        </p:nvSpPr>
        <p:spPr>
          <a:xfrm>
            <a:off x="685800" y="4038600"/>
            <a:ext cx="9144000" cy="838200"/>
          </a:xfrm>
        </p:spPr>
        <p:txBody>
          <a:bodyPr lIns="0" tIns="0" rIns="0" bIns="0"/>
          <a:lstStyle>
            <a:lvl1pPr marL="0" indent="0" algn="l">
              <a:buNone/>
              <a:defRPr sz="24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2" name="Text Placeholder 11"/>
          <p:cNvSpPr>
            <a:spLocks noGrp="1"/>
          </p:cNvSpPr>
          <p:nvPr>
            <p:ph type="body" sz="quarter" idx="13" hasCustomPrompt="1"/>
          </p:nvPr>
        </p:nvSpPr>
        <p:spPr>
          <a:xfrm>
            <a:off x="685800" y="4876800"/>
            <a:ext cx="5410200" cy="1333500"/>
          </a:xfrm>
        </p:spPr>
        <p:txBody>
          <a:bodyPr lIns="0" tIns="0" rIns="0" bIns="0">
            <a:normAutofit/>
          </a:bodyPr>
          <a:lstStyle>
            <a:lvl1pPr marL="0" indent="0">
              <a:lnSpc>
                <a:spcPct val="100000"/>
              </a:lnSpc>
              <a:spcBef>
                <a:spcPts val="0"/>
              </a:spcBef>
              <a:buNone/>
              <a:defRPr sz="14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009" y="95382"/>
            <a:ext cx="3178301" cy="1309907"/>
          </a:xfrm>
          <a:prstGeom prst="rect">
            <a:avLst/>
          </a:prstGeom>
        </p:spPr>
      </p:pic>
    </p:spTree>
  </p:cSld>
  <p:clrMapOvr>
    <a:masterClrMapping/>
  </p:clrMapOvr>
  <p:extLst>
    <p:ext uri="{DCECCB84-F9BA-43D5-87BE-67443E8EF086}">
      <p15:sldGuideLst xmlns:p15="http://schemas.microsoft.com/office/powerpoint/2012/main">
        <p15:guide id="5" pos="43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5 Dark">
    <p:bg>
      <p:bgPr>
        <a:solidFill>
          <a:schemeClr val="accent1"/>
        </a:solidFill>
        <a:effectLst/>
      </p:bgPr>
    </p:bg>
    <p:spTree>
      <p:nvGrpSpPr>
        <p:cNvPr id="1" name=""/>
        <p:cNvGrpSpPr/>
        <p:nvPr/>
      </p:nvGrpSpPr>
      <p:grpSpPr>
        <a:xfrm>
          <a:off x="0" y="0"/>
          <a:ext cx="0" cy="0"/>
          <a:chOff x="0" y="0"/>
          <a:chExt cx="0" cy="0"/>
        </a:xfrm>
      </p:grpSpPr>
      <p:sp>
        <p:nvSpPr>
          <p:cNvPr id="19" name="Date Placeholder 18"/>
          <p:cNvSpPr>
            <a:spLocks noGrp="1"/>
          </p:cNvSpPr>
          <p:nvPr>
            <p:ph type="dt" sz="half" idx="15"/>
          </p:nvPr>
        </p:nvSpPr>
        <p:spPr/>
        <p:txBody>
          <a:bodyPr/>
          <a:lstStyle/>
          <a:p>
            <a:fld id="{4D2E7C0A-B003-47BB-897B-0979338FF81B}" type="datetime3">
              <a:rPr lang="en-US" smtClean="0"/>
              <a:t>23 June 2026</a:t>
            </a:fld>
            <a:endParaRPr lang="en-US" dirty="0"/>
          </a:p>
        </p:txBody>
      </p:sp>
      <p:sp>
        <p:nvSpPr>
          <p:cNvPr id="22" name="Footer Placeholder 21"/>
          <p:cNvSpPr>
            <a:spLocks noGrp="1"/>
          </p:cNvSpPr>
          <p:nvPr>
            <p:ph type="ftr" sz="quarter" idx="16"/>
          </p:nvPr>
        </p:nvSpPr>
        <p:spPr/>
        <p:txBody>
          <a:bodyPr/>
          <a:lstStyle/>
          <a:p>
            <a:endParaRPr lang="en-US" dirty="0"/>
          </a:p>
        </p:txBody>
      </p:sp>
      <p:sp>
        <p:nvSpPr>
          <p:cNvPr id="23" name="Slide Number Placeholder 22"/>
          <p:cNvSpPr>
            <a:spLocks noGrp="1"/>
          </p:cNvSpPr>
          <p:nvPr>
            <p:ph type="sldNum" sz="quarter" idx="17"/>
          </p:nvPr>
        </p:nvSpPr>
        <p:spPr/>
        <p:txBody>
          <a:bodyPr/>
          <a:lstStyle/>
          <a:p>
            <a:fld id="{4EBCDCBD-78E1-0D41-A999-31B5EBF8E02C}" type="slidenum">
              <a:rPr lang="en-US" smtClean="0"/>
              <a:pPr/>
              <a:t>‹#›</a:t>
            </a:fld>
            <a:endParaRPr lang="en-US" dirty="0"/>
          </a:p>
        </p:txBody>
      </p:sp>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667"/>
            <a:ext cx="12189624" cy="6856664"/>
          </a:xfrm>
          <a:prstGeom prst="rect">
            <a:avLst/>
          </a:prstGeom>
        </p:spPr>
      </p:pic>
      <p:sp>
        <p:nvSpPr>
          <p:cNvPr id="13" name="Rectangle 12"/>
          <p:cNvSpPr/>
          <p:nvPr/>
        </p:nvSpPr>
        <p:spPr>
          <a:xfrm>
            <a:off x="0" y="4361627"/>
            <a:ext cx="12192000" cy="2499360"/>
          </a:xfrm>
          <a:prstGeom prst="rect">
            <a:avLst/>
          </a:prstGeom>
          <a:gradFill>
            <a:gsLst>
              <a:gs pos="0">
                <a:schemeClr val="accent1">
                  <a:lumMod val="50000"/>
                  <a:alpha val="0"/>
                </a:schemeClr>
              </a:gs>
              <a:gs pos="100000">
                <a:schemeClr val="accent1">
                  <a:lumMod val="50000"/>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191000" y="1028700"/>
            <a:ext cx="6819900" cy="1482245"/>
          </a:xfrm>
        </p:spPr>
        <p:txBody>
          <a:bodyPr anchor="t">
            <a:normAutofit/>
          </a:bodyPr>
          <a:lstStyle>
            <a:lvl1pPr algn="l">
              <a:defRPr sz="3200" baseline="0">
                <a:solidFill>
                  <a:schemeClr val="bg1"/>
                </a:solidFill>
              </a:defRPr>
            </a:lvl1pPr>
          </a:lstStyle>
          <a:p>
            <a:r>
              <a:rPr lang="en-US" dirty="0"/>
              <a:t>Click to add title </a:t>
            </a:r>
            <a:br>
              <a:rPr lang="en-US" dirty="0"/>
            </a:br>
            <a:r>
              <a:rPr lang="en-US" dirty="0"/>
              <a:t>(recommended for titles that </a:t>
            </a:r>
            <a:br>
              <a:rPr lang="en-US" dirty="0"/>
            </a:br>
            <a:r>
              <a:rPr lang="en-US" dirty="0"/>
              <a:t>are 2-3 lines long)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338" y="532082"/>
            <a:ext cx="3271029" cy="2139696"/>
          </a:xfrm>
          <a:prstGeom prst="rect">
            <a:avLst/>
          </a:prstGeom>
        </p:spPr>
      </p:pic>
      <p:cxnSp>
        <p:nvCxnSpPr>
          <p:cNvPr id="8" name="Straight Connector 7"/>
          <p:cNvCxnSpPr/>
          <p:nvPr/>
        </p:nvCxnSpPr>
        <p:spPr>
          <a:xfrm>
            <a:off x="4191000" y="3855309"/>
            <a:ext cx="68199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4" hasCustomPrompt="1"/>
          </p:nvPr>
        </p:nvSpPr>
        <p:spPr>
          <a:xfrm>
            <a:off x="4191000" y="3976706"/>
            <a:ext cx="6819900" cy="2233594"/>
          </a:xfrm>
        </p:spPr>
        <p:txBody>
          <a:bodyPr lIns="0" tIns="0" rIns="0" bIns="0">
            <a:normAutofit/>
          </a:bodyPr>
          <a:lstStyle>
            <a:lvl1pPr marL="0" indent="0">
              <a:spcBef>
                <a:spcPts val="200"/>
              </a:spcBef>
              <a:buNone/>
              <a:defRPr sz="10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r>
              <a:rPr lang="en-US" dirty="0">
                <a:effectLst/>
                <a:latin typeface="Helvetica" charset="0"/>
              </a:rPr>
              <a:t>Click to add classification text</a:t>
            </a:r>
          </a:p>
        </p:txBody>
      </p:sp>
      <p:cxnSp>
        <p:nvCxnSpPr>
          <p:cNvPr id="20" name="Straight Connector 19"/>
          <p:cNvCxnSpPr/>
          <p:nvPr/>
        </p:nvCxnSpPr>
        <p:spPr>
          <a:xfrm>
            <a:off x="4191000" y="3855309"/>
            <a:ext cx="68199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4191000" y="3855309"/>
            <a:ext cx="6819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Subtitle 2"/>
          <p:cNvSpPr>
            <a:spLocks noGrp="1"/>
          </p:cNvSpPr>
          <p:nvPr>
            <p:ph type="subTitle" idx="1" hasCustomPrompt="1"/>
          </p:nvPr>
        </p:nvSpPr>
        <p:spPr>
          <a:xfrm>
            <a:off x="4191001" y="2514600"/>
            <a:ext cx="6819900" cy="342899"/>
          </a:xfrm>
        </p:spPr>
        <p:txBody>
          <a:bodyPr lIns="0" tIns="0" rIns="0" bIns="0">
            <a:normAutofit/>
          </a:bodyPr>
          <a:lstStyle>
            <a:lvl1pPr marL="0" indent="0" algn="l">
              <a:buNone/>
              <a:defRPr sz="1600" b="1">
                <a:solidFill>
                  <a:schemeClr val="accent2">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7" name="Text Placeholder 11"/>
          <p:cNvSpPr>
            <a:spLocks noGrp="1"/>
          </p:cNvSpPr>
          <p:nvPr>
            <p:ph type="body" sz="quarter" idx="13" hasCustomPrompt="1"/>
          </p:nvPr>
        </p:nvSpPr>
        <p:spPr>
          <a:xfrm>
            <a:off x="4191000" y="2860102"/>
            <a:ext cx="6819900" cy="790832"/>
          </a:xfrm>
        </p:spPr>
        <p:txBody>
          <a:bodyPr lIns="0" tIns="0" rIns="0" bIns="0">
            <a:normAutofit/>
          </a:bodyPr>
          <a:lstStyle>
            <a:lvl1pPr marL="0" indent="0">
              <a:spcBef>
                <a:spcPts val="0"/>
              </a:spcBef>
              <a:buNone/>
              <a:defRPr sz="1200">
                <a:solidFill>
                  <a:schemeClr val="accent2">
                    <a:lumMod val="60000"/>
                    <a:lumOff val="4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sp>
        <p:nvSpPr>
          <p:cNvPr id="24" name="TextBox 23"/>
          <p:cNvSpPr txBox="1"/>
          <p:nvPr userDrawn="1"/>
        </p:nvSpPr>
        <p:spPr>
          <a:xfrm>
            <a:off x="1082518" y="2541694"/>
            <a:ext cx="2210142" cy="497572"/>
          </a:xfrm>
          <a:prstGeom prst="rect">
            <a:avLst/>
          </a:prstGeom>
          <a:noFill/>
          <a:ln w="19050">
            <a:noFill/>
          </a:ln>
        </p:spPr>
        <p:txBody>
          <a:bodyPr wrap="square" rtlCol="0">
            <a:spAutoFit/>
          </a:bodyPr>
          <a:lstStyle/>
          <a:p>
            <a:pPr marL="0" marR="0" indent="0" algn="ctr" defTabSz="914400" rtl="0" eaLnBrk="1" fontAlgn="auto" latinLnBrk="0" hangingPunct="1">
              <a:lnSpc>
                <a:spcPts val="1600"/>
              </a:lnSpc>
              <a:spcBef>
                <a:spcPts val="0"/>
              </a:spcBef>
              <a:spcAft>
                <a:spcPts val="0"/>
              </a:spcAft>
              <a:buClrTx/>
              <a:buSzTx/>
              <a:buFontTx/>
              <a:buNone/>
              <a:tabLst/>
              <a:defRPr/>
            </a:pPr>
            <a:r>
              <a:rPr lang="en-US" sz="1200" dirty="0">
                <a:solidFill>
                  <a:schemeClr val="bg1"/>
                </a:solidFill>
                <a:latin typeface="+mn-lt"/>
                <a:ea typeface="Myriad Pro" charset="0"/>
                <a:cs typeface="Myriad Pro" charset="0"/>
              </a:rPr>
              <a:t>11100 Johns Hopkins Road </a:t>
            </a:r>
            <a:br>
              <a:rPr lang="en-US" sz="1200" dirty="0">
                <a:solidFill>
                  <a:schemeClr val="bg1"/>
                </a:solidFill>
                <a:latin typeface="+mn-lt"/>
                <a:ea typeface="Myriad Pro" charset="0"/>
                <a:cs typeface="Myriad Pro" charset="0"/>
              </a:rPr>
            </a:br>
            <a:r>
              <a:rPr lang="en-US" sz="1200" dirty="0">
                <a:solidFill>
                  <a:schemeClr val="bg1"/>
                </a:solidFill>
                <a:latin typeface="+mn-lt"/>
                <a:ea typeface="Myriad Pro" charset="0"/>
                <a:cs typeface="Myriad Pro" charset="0"/>
              </a:rPr>
              <a:t>Laurel, MD 20723-6099</a:t>
            </a:r>
          </a:p>
        </p:txBody>
      </p:sp>
      <p:cxnSp>
        <p:nvCxnSpPr>
          <p:cNvPr id="25" name="Straight Connector 24"/>
          <p:cNvCxnSpPr/>
          <p:nvPr userDrawn="1"/>
        </p:nvCxnSpPr>
        <p:spPr>
          <a:xfrm>
            <a:off x="1082518" y="2387995"/>
            <a:ext cx="221014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15:guide id="5" pos="69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5 Light">
    <p:spTree>
      <p:nvGrpSpPr>
        <p:cNvPr id="1" name=""/>
        <p:cNvGrpSpPr/>
        <p:nvPr/>
      </p:nvGrpSpPr>
      <p:grpSpPr>
        <a:xfrm>
          <a:off x="0" y="0"/>
          <a:ext cx="0" cy="0"/>
          <a:chOff x="0" y="0"/>
          <a:chExt cx="0" cy="0"/>
        </a:xfrm>
      </p:grpSpPr>
      <p:sp>
        <p:nvSpPr>
          <p:cNvPr id="18" name="Date Placeholder 17"/>
          <p:cNvSpPr>
            <a:spLocks noGrp="1"/>
          </p:cNvSpPr>
          <p:nvPr>
            <p:ph type="dt" sz="half" idx="15"/>
          </p:nvPr>
        </p:nvSpPr>
        <p:spPr/>
        <p:txBody>
          <a:bodyPr/>
          <a:lstStyle/>
          <a:p>
            <a:fld id="{36124C0E-DA41-468A-ABB3-2DB9ABAF6F00}" type="datetime3">
              <a:rPr lang="en-US" smtClean="0"/>
              <a:t>23 June 2026</a:t>
            </a:fld>
            <a:endParaRPr lang="en-US" dirty="0"/>
          </a:p>
        </p:txBody>
      </p:sp>
      <p:sp>
        <p:nvSpPr>
          <p:cNvPr id="19" name="Footer Placeholder 18"/>
          <p:cNvSpPr>
            <a:spLocks noGrp="1"/>
          </p:cNvSpPr>
          <p:nvPr>
            <p:ph type="ftr" sz="quarter" idx="16"/>
          </p:nvPr>
        </p:nvSpPr>
        <p:spPr/>
        <p:txBody>
          <a:bodyPr/>
          <a:lstStyle/>
          <a:p>
            <a:endParaRPr lang="en-US" dirty="0"/>
          </a:p>
        </p:txBody>
      </p:sp>
      <p:sp>
        <p:nvSpPr>
          <p:cNvPr id="20" name="Slide Number Placeholder 19"/>
          <p:cNvSpPr>
            <a:spLocks noGrp="1"/>
          </p:cNvSpPr>
          <p:nvPr>
            <p:ph type="sldNum" sz="quarter" idx="17"/>
          </p:nvPr>
        </p:nvSpPr>
        <p:spPr/>
        <p:txBody>
          <a:bodyPr/>
          <a:lstStyle/>
          <a:p>
            <a:fld id="{4EBCDCBD-78E1-0D41-A999-31B5EBF8E02C}" type="slidenum">
              <a:rPr lang="en-US" smtClean="0"/>
              <a:pPr/>
              <a:t>‹#›</a:t>
            </a:fld>
            <a:endParaRPr lang="en-US" dirty="0"/>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 y="667"/>
            <a:ext cx="12189624" cy="6856664"/>
          </a:xfrm>
          <a:prstGeom prst="rect">
            <a:avLst/>
          </a:prstGeom>
        </p:spPr>
      </p:pic>
      <p:sp>
        <p:nvSpPr>
          <p:cNvPr id="2" name="Title 1"/>
          <p:cNvSpPr>
            <a:spLocks noGrp="1"/>
          </p:cNvSpPr>
          <p:nvPr>
            <p:ph type="ctrTitle" hasCustomPrompt="1"/>
          </p:nvPr>
        </p:nvSpPr>
        <p:spPr>
          <a:xfrm>
            <a:off x="4191000" y="1028700"/>
            <a:ext cx="6819900" cy="1485900"/>
          </a:xfrm>
        </p:spPr>
        <p:txBody>
          <a:bodyPr anchor="t">
            <a:normAutofit/>
          </a:bodyPr>
          <a:lstStyle>
            <a:lvl1pPr algn="l">
              <a:defRPr sz="3200"/>
            </a:lvl1pPr>
          </a:lstStyle>
          <a:p>
            <a:r>
              <a:rPr lang="en-US" dirty="0"/>
              <a:t>Click to add title</a:t>
            </a:r>
            <a:br>
              <a:rPr lang="en-US" dirty="0"/>
            </a:br>
            <a:r>
              <a:rPr lang="en-US" dirty="0"/>
              <a:t>(recommended for titles that </a:t>
            </a:r>
            <a:br>
              <a:rPr lang="en-US" dirty="0"/>
            </a:br>
            <a:r>
              <a:rPr lang="en-US" dirty="0"/>
              <a:t>are 2-3 lines long)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338" y="532082"/>
            <a:ext cx="3271029" cy="2139696"/>
          </a:xfrm>
          <a:prstGeom prst="rect">
            <a:avLst/>
          </a:prstGeom>
        </p:spPr>
      </p:pic>
      <p:cxnSp>
        <p:nvCxnSpPr>
          <p:cNvPr id="8" name="Straight Connector 7"/>
          <p:cNvCxnSpPr/>
          <p:nvPr/>
        </p:nvCxnSpPr>
        <p:spPr>
          <a:xfrm>
            <a:off x="4191000" y="3855309"/>
            <a:ext cx="68199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4" hasCustomPrompt="1"/>
          </p:nvPr>
        </p:nvSpPr>
        <p:spPr>
          <a:xfrm>
            <a:off x="4191000" y="3976706"/>
            <a:ext cx="6819900" cy="2233594"/>
          </a:xfrm>
        </p:spPr>
        <p:txBody>
          <a:bodyPr lIns="0" tIns="0" rIns="0" bIns="0">
            <a:normAutofit/>
          </a:bodyPr>
          <a:lstStyle>
            <a:lvl1pPr marL="0" indent="0">
              <a:spcBef>
                <a:spcPts val="200"/>
              </a:spcBef>
              <a:buNone/>
              <a:defRPr lang="en-US" sz="1000" smtClean="0">
                <a:solidFill>
                  <a:schemeClr val="accent1"/>
                </a:solidFill>
                <a:effectLst/>
              </a:defRPr>
            </a:lvl1pPr>
            <a:lvl2pPr marL="457200" indent="0">
              <a:buNone/>
              <a:defRPr/>
            </a:lvl2pPr>
            <a:lvl3pPr marL="914400" indent="0">
              <a:buNone/>
              <a:defRPr/>
            </a:lvl3pPr>
            <a:lvl4pPr marL="1371600" indent="0">
              <a:buNone/>
              <a:defRPr/>
            </a:lvl4pPr>
            <a:lvl5pPr marL="1828800" indent="0">
              <a:buNone/>
              <a:defRPr/>
            </a:lvl5pPr>
          </a:lstStyle>
          <a:p>
            <a:r>
              <a:rPr lang="en-US" dirty="0">
                <a:effectLst/>
                <a:latin typeface="Helvetica" charset="0"/>
              </a:rPr>
              <a:t>Click to add classification text</a:t>
            </a:r>
          </a:p>
        </p:txBody>
      </p:sp>
      <p:sp>
        <p:nvSpPr>
          <p:cNvPr id="9" name="Subtitle 2"/>
          <p:cNvSpPr>
            <a:spLocks noGrp="1"/>
          </p:cNvSpPr>
          <p:nvPr>
            <p:ph type="subTitle" idx="1" hasCustomPrompt="1"/>
          </p:nvPr>
        </p:nvSpPr>
        <p:spPr>
          <a:xfrm>
            <a:off x="4191001" y="2514601"/>
            <a:ext cx="6819900" cy="354954"/>
          </a:xfrm>
        </p:spPr>
        <p:txBody>
          <a:bodyPr lIns="0" tIns="0" rIns="0" bIns="0">
            <a:normAutofit/>
          </a:bodyPr>
          <a:lstStyle>
            <a:lvl1pPr marL="0" indent="0" algn="l">
              <a:buNone/>
              <a:defRPr sz="1600" b="1"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Text Placeholder 11"/>
          <p:cNvSpPr>
            <a:spLocks noGrp="1"/>
          </p:cNvSpPr>
          <p:nvPr>
            <p:ph type="body" sz="quarter" idx="13" hasCustomPrompt="1"/>
          </p:nvPr>
        </p:nvSpPr>
        <p:spPr>
          <a:xfrm>
            <a:off x="4191000" y="2869555"/>
            <a:ext cx="6819900" cy="790832"/>
          </a:xfrm>
        </p:spPr>
        <p:txBody>
          <a:bodyPr lIns="0" tIns="0" rIns="0" bIns="0">
            <a:normAutofit/>
          </a:bodyPr>
          <a:lstStyle>
            <a:lvl1pPr marL="0" indent="0">
              <a:spcBef>
                <a:spcPts val="0"/>
              </a:spcBef>
              <a:buNone/>
              <a:defRPr sz="12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sp>
        <p:nvSpPr>
          <p:cNvPr id="12" name="TextBox 11"/>
          <p:cNvSpPr txBox="1"/>
          <p:nvPr userDrawn="1"/>
        </p:nvSpPr>
        <p:spPr>
          <a:xfrm>
            <a:off x="1082518" y="2541694"/>
            <a:ext cx="2210142" cy="497572"/>
          </a:xfrm>
          <a:prstGeom prst="rect">
            <a:avLst/>
          </a:prstGeom>
          <a:noFill/>
          <a:ln w="19050">
            <a:noFill/>
          </a:ln>
        </p:spPr>
        <p:txBody>
          <a:bodyPr wrap="square" rtlCol="0">
            <a:spAutoFit/>
          </a:bodyPr>
          <a:lstStyle/>
          <a:p>
            <a:pPr marL="0" marR="0" indent="0" algn="ctr" defTabSz="914400" rtl="0" eaLnBrk="1" fontAlgn="auto" latinLnBrk="0" hangingPunct="1">
              <a:lnSpc>
                <a:spcPts val="1600"/>
              </a:lnSpc>
              <a:spcBef>
                <a:spcPts val="0"/>
              </a:spcBef>
              <a:spcAft>
                <a:spcPts val="0"/>
              </a:spcAft>
              <a:buClrTx/>
              <a:buSzTx/>
              <a:buFontTx/>
              <a:buNone/>
              <a:tabLst/>
              <a:defRPr/>
            </a:pPr>
            <a:r>
              <a:rPr lang="en-US" sz="1200" dirty="0">
                <a:solidFill>
                  <a:schemeClr val="accent1"/>
                </a:solidFill>
                <a:latin typeface="+mn-lt"/>
                <a:ea typeface="Myriad Pro" charset="0"/>
                <a:cs typeface="Myriad Pro" charset="0"/>
              </a:rPr>
              <a:t>11100 Johns Hopkins Road </a:t>
            </a:r>
            <a:br>
              <a:rPr lang="en-US" sz="1200" dirty="0">
                <a:solidFill>
                  <a:schemeClr val="accent1"/>
                </a:solidFill>
                <a:latin typeface="+mn-lt"/>
                <a:ea typeface="Myriad Pro" charset="0"/>
                <a:cs typeface="Myriad Pro" charset="0"/>
              </a:rPr>
            </a:br>
            <a:r>
              <a:rPr lang="en-US" sz="1200" dirty="0">
                <a:solidFill>
                  <a:schemeClr val="accent1"/>
                </a:solidFill>
                <a:latin typeface="+mn-lt"/>
                <a:ea typeface="Myriad Pro" charset="0"/>
                <a:cs typeface="Myriad Pro" charset="0"/>
              </a:rPr>
              <a:t>Laurel, MD 20723-6099</a:t>
            </a:r>
          </a:p>
        </p:txBody>
      </p:sp>
      <p:cxnSp>
        <p:nvCxnSpPr>
          <p:cNvPr id="13" name="Straight Connector 12"/>
          <p:cNvCxnSpPr/>
          <p:nvPr userDrawn="1"/>
        </p:nvCxnSpPr>
        <p:spPr>
          <a:xfrm>
            <a:off x="1082518" y="2387995"/>
            <a:ext cx="2210142"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15:guide id="25" pos="69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Title 12"/>
          <p:cNvSpPr>
            <a:spLocks noGrp="1"/>
          </p:cNvSpPr>
          <p:nvPr>
            <p:ph type="title" hasCustomPrompt="1"/>
          </p:nvPr>
        </p:nvSpPr>
        <p:spPr/>
        <p:txBody>
          <a:bodyPr/>
          <a:lstStyle/>
          <a:p>
            <a:r>
              <a:rPr lang="en-US" dirty="0"/>
              <a:t>Click to add title</a:t>
            </a:r>
          </a:p>
        </p:txBody>
      </p:sp>
      <p:sp>
        <p:nvSpPr>
          <p:cNvPr id="9" name="Content Placeholder 8"/>
          <p:cNvSpPr>
            <a:spLocks noGrp="1"/>
          </p:cNvSpPr>
          <p:nvPr>
            <p:ph sz="quarter" idx="13" hasCustomPrompt="1"/>
          </p:nvPr>
        </p:nvSpPr>
        <p:spPr>
          <a:xfrm>
            <a:off x="952500" y="1179514"/>
            <a:ext cx="10287000" cy="503078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11"/>
          <p:cNvSpPr>
            <a:spLocks noGrp="1"/>
          </p:cNvSpPr>
          <p:nvPr>
            <p:ph type="dt" sz="half" idx="14"/>
          </p:nvPr>
        </p:nvSpPr>
        <p:spPr/>
        <p:txBody>
          <a:bodyPr/>
          <a:lstStyle/>
          <a:p>
            <a:fld id="{23C2CCE9-65D5-4615-9B27-785F94F466C1}" type="datetime3">
              <a:rPr lang="en-US" smtClean="0"/>
              <a:t>23 June 2026</a:t>
            </a:fld>
            <a:endParaRPr lang="en-US" dirty="0"/>
          </a:p>
        </p:txBody>
      </p:sp>
      <p:sp>
        <p:nvSpPr>
          <p:cNvPr id="14" name="Footer Placeholder 13"/>
          <p:cNvSpPr>
            <a:spLocks noGrp="1"/>
          </p:cNvSpPr>
          <p:nvPr>
            <p:ph type="ftr" sz="quarter" idx="15"/>
          </p:nvPr>
        </p:nvSpPr>
        <p:spPr/>
        <p:txBody>
          <a:bodyPr/>
          <a:lstStyle/>
          <a:p>
            <a:endParaRPr lang="en-US" dirty="0"/>
          </a:p>
        </p:txBody>
      </p:sp>
      <p:sp>
        <p:nvSpPr>
          <p:cNvPr id="15" name="Slide Number Placeholder 14"/>
          <p:cNvSpPr>
            <a:spLocks noGrp="1"/>
          </p:cNvSpPr>
          <p:nvPr>
            <p:ph type="sldNum" sz="quarter" idx="16"/>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412735"/>
            <a:ext cx="11277600" cy="342899"/>
          </a:xfrm>
        </p:spPr>
        <p:txBody>
          <a:bodyPr>
            <a:noAutofit/>
          </a:bodyPr>
          <a:lstStyle>
            <a:lvl1pPr>
              <a:defRPr sz="2800"/>
            </a:lvl1pPr>
          </a:lstStyle>
          <a:p>
            <a:r>
              <a:rPr lang="en-US" dirty="0"/>
              <a:t>Click to add title </a:t>
            </a:r>
          </a:p>
        </p:txBody>
      </p:sp>
      <p:sp>
        <p:nvSpPr>
          <p:cNvPr id="3" name="Content Placeholder 2"/>
          <p:cNvSpPr>
            <a:spLocks noGrp="1"/>
          </p:cNvSpPr>
          <p:nvPr>
            <p:ph idx="1" hasCustomPrompt="1"/>
          </p:nvPr>
        </p:nvSpPr>
        <p:spPr>
          <a:xfrm>
            <a:off x="952500" y="1485900"/>
            <a:ext cx="10287000" cy="4724400"/>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3" hasCustomPrompt="1"/>
          </p:nvPr>
        </p:nvSpPr>
        <p:spPr>
          <a:xfrm>
            <a:off x="457200" y="795015"/>
            <a:ext cx="11277600" cy="386085"/>
          </a:xfrm>
        </p:spPr>
        <p:txBody>
          <a:bodyPr>
            <a:normAutofit/>
          </a:bodyPr>
          <a:lstStyle>
            <a:lvl1pPr marL="0" indent="0">
              <a:buNone/>
              <a:defRPr sz="2000" baseline="0">
                <a:solidFill>
                  <a:schemeClr val="tx2">
                    <a:lumMod val="60000"/>
                    <a:lumOff val="40000"/>
                  </a:schemeClr>
                </a:solidFill>
              </a:defRPr>
            </a:lvl1pPr>
          </a:lstStyle>
          <a:p>
            <a:r>
              <a:rPr lang="en-US" sz="2000" b="0" dirty="0"/>
              <a:t>Click to add subtitle</a:t>
            </a:r>
            <a:endParaRPr lang="en-US" sz="1600" b="0" dirty="0"/>
          </a:p>
        </p:txBody>
      </p:sp>
      <p:sp>
        <p:nvSpPr>
          <p:cNvPr id="14" name="Date Placeholder 13"/>
          <p:cNvSpPr>
            <a:spLocks noGrp="1"/>
          </p:cNvSpPr>
          <p:nvPr>
            <p:ph type="dt" sz="half" idx="14"/>
          </p:nvPr>
        </p:nvSpPr>
        <p:spPr/>
        <p:txBody>
          <a:bodyPr/>
          <a:lstStyle/>
          <a:p>
            <a:fld id="{D5EA4699-75BE-494C-BD9A-E994FCCCDC34}" type="datetime3">
              <a:rPr lang="en-US" smtClean="0"/>
              <a:t>23 June 2026</a:t>
            </a:fld>
            <a:endParaRPr lang="en-US" dirty="0"/>
          </a:p>
        </p:txBody>
      </p:sp>
      <p:sp>
        <p:nvSpPr>
          <p:cNvPr id="15" name="Footer Placeholder 14"/>
          <p:cNvSpPr>
            <a:spLocks noGrp="1"/>
          </p:cNvSpPr>
          <p:nvPr>
            <p:ph type="ftr" sz="quarter" idx="15"/>
          </p:nvPr>
        </p:nvSpPr>
        <p:spPr/>
        <p:txBody>
          <a:bodyPr/>
          <a:lstStyle/>
          <a:p>
            <a:endParaRPr lang="en-US" dirty="0"/>
          </a:p>
        </p:txBody>
      </p:sp>
      <p:sp>
        <p:nvSpPr>
          <p:cNvPr id="16" name="Slide Number Placeholder 15"/>
          <p:cNvSpPr>
            <a:spLocks noGrp="1"/>
          </p:cNvSpPr>
          <p:nvPr>
            <p:ph type="sldNum" sz="quarter" idx="16"/>
          </p:nvPr>
        </p:nvSpPr>
        <p:spPr/>
        <p:txBody>
          <a:bodyPr/>
          <a:lstStyle/>
          <a:p>
            <a:fld id="{4EBCDCBD-78E1-0D41-A999-31B5EBF8E02C}" type="slidenum">
              <a:rPr lang="en-US" smtClean="0"/>
              <a:pPr/>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3" name="Content Placeholder 2"/>
          <p:cNvSpPr>
            <a:spLocks noGrp="1"/>
          </p:cNvSpPr>
          <p:nvPr>
            <p:ph idx="1" hasCustomPrompt="1"/>
          </p:nvPr>
        </p:nvSpPr>
        <p:spPr>
          <a:xfrm>
            <a:off x="952500" y="1181100"/>
            <a:ext cx="4953000" cy="41762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hasCustomPrompt="1"/>
          </p:nvPr>
        </p:nvSpPr>
        <p:spPr>
          <a:xfrm>
            <a:off x="952500" y="5548312"/>
            <a:ext cx="10286999" cy="661988"/>
          </a:xfrm>
          <a:solidFill>
            <a:schemeClr val="accent2"/>
          </a:solidFill>
          <a:ln w="19050">
            <a:noFill/>
          </a:ln>
        </p:spPr>
        <p:txBody>
          <a:bodyPr anchor="ctr">
            <a:noAutofit/>
          </a:bodyPr>
          <a:lstStyle>
            <a:lvl1pPr marL="0" indent="0" algn="ctr">
              <a:buNone/>
              <a:defRPr sz="1800" b="1">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dirty="0"/>
              <a:t>Click to add callout text</a:t>
            </a:r>
          </a:p>
        </p:txBody>
      </p:sp>
      <p:sp>
        <p:nvSpPr>
          <p:cNvPr id="11" name="Content Placeholder 2"/>
          <p:cNvSpPr>
            <a:spLocks noGrp="1"/>
          </p:cNvSpPr>
          <p:nvPr>
            <p:ph idx="13" hasCustomPrompt="1"/>
          </p:nvPr>
        </p:nvSpPr>
        <p:spPr>
          <a:xfrm>
            <a:off x="6286501" y="1181100"/>
            <a:ext cx="4952998" cy="41762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Date Placeholder 17"/>
          <p:cNvSpPr>
            <a:spLocks noGrp="1"/>
          </p:cNvSpPr>
          <p:nvPr>
            <p:ph type="dt" sz="half" idx="15"/>
          </p:nvPr>
        </p:nvSpPr>
        <p:spPr/>
        <p:txBody>
          <a:bodyPr/>
          <a:lstStyle/>
          <a:p>
            <a:fld id="{580F1980-BB30-462A-8444-E0A13D5FE3AD}" type="datetime3">
              <a:rPr lang="en-US" smtClean="0"/>
              <a:t>23 June 2026</a:t>
            </a:fld>
            <a:endParaRPr lang="en-US" dirty="0"/>
          </a:p>
        </p:txBody>
      </p:sp>
      <p:sp>
        <p:nvSpPr>
          <p:cNvPr id="19" name="Footer Placeholder 18"/>
          <p:cNvSpPr>
            <a:spLocks noGrp="1"/>
          </p:cNvSpPr>
          <p:nvPr>
            <p:ph type="ftr" sz="quarter" idx="16"/>
          </p:nvPr>
        </p:nvSpPr>
        <p:spPr/>
        <p:txBody>
          <a:bodyPr/>
          <a:lstStyle/>
          <a:p>
            <a:endParaRPr lang="en-US" dirty="0"/>
          </a:p>
        </p:txBody>
      </p:sp>
      <p:sp>
        <p:nvSpPr>
          <p:cNvPr id="20" name="Slide Number Placeholder 19"/>
          <p:cNvSpPr>
            <a:spLocks noGrp="1"/>
          </p:cNvSpPr>
          <p:nvPr>
            <p:ph type="sldNum" sz="quarter" idx="17"/>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Column,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952500" y="1485900"/>
            <a:ext cx="4953000" cy="38714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hasCustomPrompt="1"/>
          </p:nvPr>
        </p:nvSpPr>
        <p:spPr>
          <a:xfrm>
            <a:off x="952500" y="5548312"/>
            <a:ext cx="10286999" cy="661988"/>
          </a:xfrm>
          <a:solidFill>
            <a:schemeClr val="accent2"/>
          </a:solidFill>
          <a:ln w="19050">
            <a:noFill/>
          </a:ln>
        </p:spPr>
        <p:txBody>
          <a:bodyPr anchor="ctr">
            <a:noAutofit/>
          </a:bodyPr>
          <a:lstStyle>
            <a:lvl1pPr marL="0" indent="0" algn="ctr">
              <a:buNone/>
              <a:defRPr sz="1800" b="1">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dirty="0"/>
              <a:t>Click to add callout text</a:t>
            </a:r>
          </a:p>
        </p:txBody>
      </p:sp>
      <p:sp>
        <p:nvSpPr>
          <p:cNvPr id="11" name="Content Placeholder 2"/>
          <p:cNvSpPr>
            <a:spLocks noGrp="1"/>
          </p:cNvSpPr>
          <p:nvPr>
            <p:ph idx="13" hasCustomPrompt="1"/>
          </p:nvPr>
        </p:nvSpPr>
        <p:spPr>
          <a:xfrm>
            <a:off x="6286501" y="1485900"/>
            <a:ext cx="4952998" cy="38714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hasCustomPrompt="1"/>
          </p:nvPr>
        </p:nvSpPr>
        <p:spPr>
          <a:xfrm>
            <a:off x="457200" y="419100"/>
            <a:ext cx="11277600" cy="342899"/>
          </a:xfrm>
        </p:spPr>
        <p:txBody>
          <a:bodyPr>
            <a:noAutofit/>
          </a:bodyPr>
          <a:lstStyle>
            <a:lvl1pPr>
              <a:defRPr sz="2800"/>
            </a:lvl1pPr>
          </a:lstStyle>
          <a:p>
            <a:r>
              <a:rPr lang="en-US" dirty="0"/>
              <a:t>Click to add title </a:t>
            </a:r>
          </a:p>
        </p:txBody>
      </p:sp>
      <p:sp>
        <p:nvSpPr>
          <p:cNvPr id="12" name="Text Placeholder 8"/>
          <p:cNvSpPr>
            <a:spLocks noGrp="1"/>
          </p:cNvSpPr>
          <p:nvPr>
            <p:ph type="body" sz="quarter" idx="18" hasCustomPrompt="1"/>
          </p:nvPr>
        </p:nvSpPr>
        <p:spPr>
          <a:xfrm>
            <a:off x="457200" y="801380"/>
            <a:ext cx="11277600" cy="379720"/>
          </a:xfrm>
        </p:spPr>
        <p:txBody>
          <a:bodyPr>
            <a:normAutofit/>
          </a:bodyPr>
          <a:lstStyle>
            <a:lvl1pPr marL="0" indent="0">
              <a:buNone/>
              <a:defRPr sz="2000" baseline="0">
                <a:solidFill>
                  <a:schemeClr val="tx2">
                    <a:lumMod val="60000"/>
                    <a:lumOff val="40000"/>
                  </a:schemeClr>
                </a:solidFill>
              </a:defRPr>
            </a:lvl1pPr>
          </a:lstStyle>
          <a:p>
            <a:r>
              <a:rPr lang="en-US" sz="2000" b="0" dirty="0"/>
              <a:t>Click to add subtitle</a:t>
            </a:r>
            <a:endParaRPr lang="en-US" sz="1600" b="0" dirty="0"/>
          </a:p>
        </p:txBody>
      </p:sp>
      <p:sp>
        <p:nvSpPr>
          <p:cNvPr id="16" name="Date Placeholder 15"/>
          <p:cNvSpPr>
            <a:spLocks noGrp="1"/>
          </p:cNvSpPr>
          <p:nvPr>
            <p:ph type="dt" sz="half" idx="19"/>
          </p:nvPr>
        </p:nvSpPr>
        <p:spPr/>
        <p:txBody>
          <a:bodyPr/>
          <a:lstStyle/>
          <a:p>
            <a:fld id="{FAF91DCA-BF81-465E-9F1A-7A79772C474D}" type="datetime3">
              <a:rPr lang="en-US" smtClean="0"/>
              <a:t>23 June 2026</a:t>
            </a:fld>
            <a:endParaRPr lang="en-US" dirty="0"/>
          </a:p>
        </p:txBody>
      </p:sp>
      <p:sp>
        <p:nvSpPr>
          <p:cNvPr id="17" name="Footer Placeholder 16"/>
          <p:cNvSpPr>
            <a:spLocks noGrp="1"/>
          </p:cNvSpPr>
          <p:nvPr>
            <p:ph type="ftr" sz="quarter" idx="20"/>
          </p:nvPr>
        </p:nvSpPr>
        <p:spPr/>
        <p:txBody>
          <a:bodyPr/>
          <a:lstStyle/>
          <a:p>
            <a:endParaRPr lang="en-US" dirty="0"/>
          </a:p>
        </p:txBody>
      </p:sp>
      <p:sp>
        <p:nvSpPr>
          <p:cNvPr id="18" name="Slide Number Placeholder 17"/>
          <p:cNvSpPr>
            <a:spLocks noGrp="1"/>
          </p:cNvSpPr>
          <p:nvPr>
            <p:ph type="sldNum" sz="quarter" idx="21"/>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9" name="Date Placeholder 8"/>
          <p:cNvSpPr>
            <a:spLocks noGrp="1"/>
          </p:cNvSpPr>
          <p:nvPr>
            <p:ph type="dt" sz="half" idx="10"/>
          </p:nvPr>
        </p:nvSpPr>
        <p:spPr/>
        <p:txBody>
          <a:bodyPr/>
          <a:lstStyle/>
          <a:p>
            <a:fld id="{5C5E8A4B-C163-4750-8A07-20C27F1DD650}" type="datetime3">
              <a:rPr lang="en-US" smtClean="0"/>
              <a:t>23 June 2026</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419100"/>
            <a:ext cx="11277600" cy="342899"/>
          </a:xfrm>
        </p:spPr>
        <p:txBody>
          <a:bodyPr>
            <a:noAutofit/>
          </a:bodyPr>
          <a:lstStyle>
            <a:lvl1pPr>
              <a:defRPr sz="2800"/>
            </a:lvl1pPr>
          </a:lstStyle>
          <a:p>
            <a:r>
              <a:rPr lang="en-US" dirty="0"/>
              <a:t>Click to add title </a:t>
            </a:r>
          </a:p>
        </p:txBody>
      </p:sp>
      <p:sp>
        <p:nvSpPr>
          <p:cNvPr id="9" name="Text Placeholder 8"/>
          <p:cNvSpPr>
            <a:spLocks noGrp="1"/>
          </p:cNvSpPr>
          <p:nvPr>
            <p:ph type="body" sz="quarter" idx="13" hasCustomPrompt="1"/>
          </p:nvPr>
        </p:nvSpPr>
        <p:spPr>
          <a:xfrm>
            <a:off x="457200" y="801380"/>
            <a:ext cx="11277600" cy="379720"/>
          </a:xfrm>
        </p:spPr>
        <p:txBody>
          <a:bodyPr>
            <a:normAutofit/>
          </a:bodyPr>
          <a:lstStyle>
            <a:lvl1pPr marL="0" indent="0">
              <a:buNone/>
              <a:defRPr sz="2000" baseline="0">
                <a:solidFill>
                  <a:schemeClr val="tx2">
                    <a:lumMod val="60000"/>
                    <a:lumOff val="40000"/>
                  </a:schemeClr>
                </a:solidFill>
              </a:defRPr>
            </a:lvl1pPr>
          </a:lstStyle>
          <a:p>
            <a:r>
              <a:rPr lang="en-US" sz="2000" b="0" dirty="0"/>
              <a:t>Click to add subtitle</a:t>
            </a:r>
            <a:endParaRPr lang="en-US" sz="1600" b="0" dirty="0"/>
          </a:p>
        </p:txBody>
      </p:sp>
      <p:sp>
        <p:nvSpPr>
          <p:cNvPr id="10" name="Date Placeholder 9"/>
          <p:cNvSpPr>
            <a:spLocks noGrp="1"/>
          </p:cNvSpPr>
          <p:nvPr>
            <p:ph type="dt" sz="half" idx="14"/>
          </p:nvPr>
        </p:nvSpPr>
        <p:spPr/>
        <p:txBody>
          <a:bodyPr/>
          <a:lstStyle/>
          <a:p>
            <a:fld id="{CF999DA4-C7B3-416B-B64C-11D36F7936CF}" type="datetime3">
              <a:rPr lang="en-US" smtClean="0"/>
              <a:t>23 June 2026</a:t>
            </a:fld>
            <a:endParaRPr lang="en-US" dirty="0"/>
          </a:p>
        </p:txBody>
      </p:sp>
      <p:sp>
        <p:nvSpPr>
          <p:cNvPr id="11" name="Footer Placeholder 10"/>
          <p:cNvSpPr>
            <a:spLocks noGrp="1"/>
          </p:cNvSpPr>
          <p:nvPr>
            <p:ph type="ftr" sz="quarter" idx="15"/>
          </p:nvPr>
        </p:nvSpPr>
        <p:spPr/>
        <p:txBody>
          <a:bodyPr/>
          <a:lstStyle/>
          <a:p>
            <a:endParaRPr lang="en-US" dirty="0"/>
          </a:p>
        </p:txBody>
      </p:sp>
      <p:sp>
        <p:nvSpPr>
          <p:cNvPr id="12" name="Slide Number Placeholder 11"/>
          <p:cNvSpPr>
            <a:spLocks noGrp="1"/>
          </p:cNvSpPr>
          <p:nvPr>
            <p:ph type="sldNum" sz="quarter" idx="16"/>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End Dark">
    <p:spTree>
      <p:nvGrpSpPr>
        <p:cNvPr id="1" name=""/>
        <p:cNvGrpSpPr/>
        <p:nvPr/>
      </p:nvGrpSpPr>
      <p:grpSpPr>
        <a:xfrm>
          <a:off x="0" y="0"/>
          <a:ext cx="0" cy="0"/>
          <a:chOff x="0" y="0"/>
          <a:chExt cx="0" cy="0"/>
        </a:xfrm>
      </p:grpSpPr>
      <p:sp>
        <p:nvSpPr>
          <p:cNvPr id="11" name="Date Placeholder 10"/>
          <p:cNvSpPr>
            <a:spLocks noGrp="1"/>
          </p:cNvSpPr>
          <p:nvPr>
            <p:ph type="dt" sz="half" idx="10"/>
          </p:nvPr>
        </p:nvSpPr>
        <p:spPr/>
        <p:txBody>
          <a:bodyPr/>
          <a:lstStyle/>
          <a:p>
            <a:fld id="{6A52BCFE-D255-4C4B-BA1D-51B94D9D938B}" type="datetime3">
              <a:rPr lang="en-US" smtClean="0"/>
              <a:t>23 June 2026</a:t>
            </a:fld>
            <a:endParaRPr lang="en-US" dirty="0"/>
          </a:p>
        </p:txBody>
      </p:sp>
      <p:sp>
        <p:nvSpPr>
          <p:cNvPr id="12" name="Footer Placeholder 11"/>
          <p:cNvSpPr>
            <a:spLocks noGrp="1"/>
          </p:cNvSpPr>
          <p:nvPr>
            <p:ph type="ftr" sz="quarter" idx="11"/>
          </p:nvPr>
        </p:nvSpPr>
        <p:spPr/>
        <p:txBody>
          <a:bodyPr/>
          <a:lstStyle/>
          <a:p>
            <a:endParaRPr lang="en-US" dirty="0"/>
          </a:p>
        </p:txBody>
      </p:sp>
      <p:sp>
        <p:nvSpPr>
          <p:cNvPr id="14" name="Slide Number Placeholder 13"/>
          <p:cNvSpPr>
            <a:spLocks noGrp="1"/>
          </p:cNvSpPr>
          <p:nvPr>
            <p:ph type="sldNum" sz="quarter" idx="12"/>
          </p:nvPr>
        </p:nvSpPr>
        <p:spPr/>
        <p:txBody>
          <a:bodyPr/>
          <a:lstStyle/>
          <a:p>
            <a:fld id="{4EBCDCBD-78E1-0D41-A999-31B5EBF8E02C}" type="slidenum">
              <a:rPr lang="en-US" smtClean="0"/>
              <a:pPr/>
              <a:t>‹#›</a:t>
            </a:fld>
            <a:endParaRPr lang="en-US" dirty="0"/>
          </a:p>
        </p:txBody>
      </p:sp>
      <p:sp>
        <p:nvSpPr>
          <p:cNvPr id="8" name="Rectangle 7"/>
          <p:cNvSpPr/>
          <p:nvPr/>
        </p:nvSpPr>
        <p:spPr>
          <a:xfrm>
            <a:off x="0" y="6291470"/>
            <a:ext cx="12192000" cy="5665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6163" y="1371600"/>
            <a:ext cx="5479673" cy="3584448"/>
          </a:xfrm>
          <a:prstGeom prst="rect">
            <a:avLst/>
          </a:prstGeom>
        </p:spPr>
      </p:pic>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 y="667"/>
            <a:ext cx="12189624" cy="6856664"/>
          </a:xfrm>
          <a:prstGeom prst="rect">
            <a:avLst/>
          </a:prstGeom>
        </p:spPr>
      </p:pic>
      <p:sp>
        <p:nvSpPr>
          <p:cNvPr id="13" name="Rectangle 12"/>
          <p:cNvSpPr/>
          <p:nvPr userDrawn="1"/>
        </p:nvSpPr>
        <p:spPr>
          <a:xfrm>
            <a:off x="-1" y="4358640"/>
            <a:ext cx="12192000" cy="2499360"/>
          </a:xfrm>
          <a:prstGeom prst="rect">
            <a:avLst/>
          </a:prstGeom>
          <a:gradFill>
            <a:gsLst>
              <a:gs pos="0">
                <a:schemeClr val="accent1">
                  <a:lumMod val="50000"/>
                  <a:alpha val="0"/>
                </a:schemeClr>
              </a:gs>
              <a:gs pos="100000">
                <a:schemeClr val="accent1">
                  <a:lumMod val="50000"/>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6163" y="1371600"/>
            <a:ext cx="5479673" cy="3584448"/>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nd Light">
    <p:spTree>
      <p:nvGrpSpPr>
        <p:cNvPr id="1" name=""/>
        <p:cNvGrpSpPr/>
        <p:nvPr/>
      </p:nvGrpSpPr>
      <p:grpSpPr>
        <a:xfrm>
          <a:off x="0" y="0"/>
          <a:ext cx="0" cy="0"/>
          <a:chOff x="0" y="0"/>
          <a:chExt cx="0" cy="0"/>
        </a:xfrm>
      </p:grpSpPr>
      <p:sp>
        <p:nvSpPr>
          <p:cNvPr id="11" name="Date Placeholder 10"/>
          <p:cNvSpPr>
            <a:spLocks noGrp="1"/>
          </p:cNvSpPr>
          <p:nvPr>
            <p:ph type="dt" sz="half" idx="10"/>
          </p:nvPr>
        </p:nvSpPr>
        <p:spPr/>
        <p:txBody>
          <a:bodyPr/>
          <a:lstStyle/>
          <a:p>
            <a:fld id="{105AF200-3133-408E-AEAA-04B3ACA33176}" type="datetime3">
              <a:rPr lang="en-US" smtClean="0"/>
              <a:t>23 June 2026</a:t>
            </a:fld>
            <a:endParaRPr lang="en-US" dirty="0"/>
          </a:p>
        </p:txBody>
      </p:sp>
      <p:sp>
        <p:nvSpPr>
          <p:cNvPr id="12" name="Footer Placeholder 11"/>
          <p:cNvSpPr>
            <a:spLocks noGrp="1"/>
          </p:cNvSpPr>
          <p:nvPr>
            <p:ph type="ftr" sz="quarter" idx="11"/>
          </p:nvPr>
        </p:nvSpPr>
        <p:spPr/>
        <p:txBody>
          <a:bodyPr/>
          <a:lstStyle/>
          <a:p>
            <a:endParaRPr lang="en-US" dirty="0"/>
          </a:p>
        </p:txBody>
      </p:sp>
      <p:sp>
        <p:nvSpPr>
          <p:cNvPr id="13" name="Slide Number Placeholder 12"/>
          <p:cNvSpPr>
            <a:spLocks noGrp="1"/>
          </p:cNvSpPr>
          <p:nvPr>
            <p:ph type="sldNum" sz="quarter" idx="12"/>
          </p:nvPr>
        </p:nvSpPr>
        <p:spPr/>
        <p:txBody>
          <a:bodyPr/>
          <a:lstStyle/>
          <a:p>
            <a:fld id="{4EBCDCBD-78E1-0D41-A999-31B5EBF8E02C}" type="slidenum">
              <a:rPr lang="en-US" smtClean="0"/>
              <a:pPr/>
              <a:t>‹#›</a:t>
            </a:fld>
            <a:endParaRPr lang="en-US" dirty="0"/>
          </a:p>
        </p:txBody>
      </p:sp>
      <p:sp>
        <p:nvSpPr>
          <p:cNvPr id="8" name="Rectangle 7"/>
          <p:cNvSpPr/>
          <p:nvPr/>
        </p:nvSpPr>
        <p:spPr>
          <a:xfrm>
            <a:off x="0" y="6291470"/>
            <a:ext cx="12192000" cy="5665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 y="667"/>
            <a:ext cx="12189624" cy="685666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6163" y="1371600"/>
            <a:ext cx="5479673" cy="358444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Rectangle 12"/>
          <p:cNvSpPr/>
          <p:nvPr userDrawn="1"/>
        </p:nvSpPr>
        <p:spPr>
          <a:xfrm>
            <a:off x="0" y="6499798"/>
            <a:ext cx="12192000" cy="3566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n-US" dirty="0"/>
          </a:p>
        </p:txBody>
      </p:sp>
      <p:cxnSp>
        <p:nvCxnSpPr>
          <p:cNvPr id="15" name="Straight Connector 14"/>
          <p:cNvCxnSpPr/>
          <p:nvPr userDrawn="1"/>
        </p:nvCxnSpPr>
        <p:spPr>
          <a:xfrm>
            <a:off x="0" y="6500474"/>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457200" y="419100"/>
            <a:ext cx="11277600" cy="762000"/>
          </a:xfrm>
          <a:prstGeom prst="rect">
            <a:avLst/>
          </a:prstGeom>
        </p:spPr>
        <p:txBody>
          <a:bodyPr vert="horz" lIns="0" tIns="0" rIns="0" bIns="0" rtlCol="0" anchor="t" anchorCtr="0">
            <a:normAutofit/>
          </a:bodyPr>
          <a:lstStyle/>
          <a:p>
            <a:r>
              <a:rPr lang="en-US" dirty="0"/>
              <a:t>Click to add title</a:t>
            </a:r>
          </a:p>
        </p:txBody>
      </p:sp>
      <p:sp>
        <p:nvSpPr>
          <p:cNvPr id="3" name="Text Placeholder 2"/>
          <p:cNvSpPr>
            <a:spLocks noGrp="1"/>
          </p:cNvSpPr>
          <p:nvPr>
            <p:ph type="body" idx="1"/>
          </p:nvPr>
        </p:nvSpPr>
        <p:spPr>
          <a:xfrm>
            <a:off x="952500" y="1181100"/>
            <a:ext cx="10287000" cy="5029200"/>
          </a:xfrm>
          <a:prstGeom prst="rect">
            <a:avLst/>
          </a:prstGeom>
        </p:spPr>
        <p:txBody>
          <a:bodyPr vert="horz" lIns="0" tIns="0" rIns="0" bIns="0" rtlCol="0">
            <a:norm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036810" y="6500814"/>
            <a:ext cx="1371600" cy="357186"/>
          </a:xfrm>
          <a:prstGeom prst="rect">
            <a:avLst/>
          </a:prstGeom>
        </p:spPr>
        <p:txBody>
          <a:bodyPr vert="horz" lIns="91440" tIns="0" rIns="91440" bIns="0" rtlCol="0" anchor="ctr"/>
          <a:lstStyle>
            <a:lvl1pPr algn="r">
              <a:defRPr sz="1000">
                <a:solidFill>
                  <a:schemeClr val="bg1">
                    <a:lumMod val="50000"/>
                  </a:schemeClr>
                </a:solidFill>
              </a:defRPr>
            </a:lvl1pPr>
          </a:lstStyle>
          <a:p>
            <a:fld id="{EBD90533-0019-439F-9033-E5FD503D101E}" type="datetime3">
              <a:rPr lang="en-US" smtClean="0"/>
              <a:t>23 June 2026</a:t>
            </a:fld>
            <a:endParaRPr lang="en-US" dirty="0"/>
          </a:p>
        </p:txBody>
      </p:sp>
      <p:sp>
        <p:nvSpPr>
          <p:cNvPr id="5" name="Footer Placeholder 4"/>
          <p:cNvSpPr>
            <a:spLocks noGrp="1"/>
          </p:cNvSpPr>
          <p:nvPr>
            <p:ph type="ftr" sz="quarter" idx="3"/>
          </p:nvPr>
        </p:nvSpPr>
        <p:spPr>
          <a:xfrm>
            <a:off x="742416" y="6500814"/>
            <a:ext cx="3197406" cy="355600"/>
          </a:xfrm>
          <a:prstGeom prst="rect">
            <a:avLst/>
          </a:prstGeom>
        </p:spPr>
        <p:txBody>
          <a:bodyPr vert="horz" lIns="91440" tIns="0" rIns="91440" bIns="0" rtlCol="0" anchor="ctr"/>
          <a:lstStyle>
            <a:lvl1pPr algn="l">
              <a:defRPr sz="10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11440302" y="6500474"/>
            <a:ext cx="381000" cy="357526"/>
          </a:xfrm>
          <a:prstGeom prst="rect">
            <a:avLst/>
          </a:prstGeom>
        </p:spPr>
        <p:txBody>
          <a:bodyPr vert="horz" lIns="0" tIns="0" rIns="0" bIns="0" rtlCol="0" anchor="ctr"/>
          <a:lstStyle>
            <a:lvl1pPr algn="ctr">
              <a:defRPr sz="1000" b="1">
                <a:solidFill>
                  <a:schemeClr val="accent2"/>
                </a:solidFill>
              </a:defRPr>
            </a:lvl1pPr>
          </a:lstStyle>
          <a:p>
            <a:fld id="{4EBCDCBD-78E1-0D41-A999-31B5EBF8E02C}" type="slidenum">
              <a:rPr lang="en-US" smtClean="0"/>
              <a:pPr/>
              <a:t>‹#›</a:t>
            </a:fld>
            <a:endParaRPr lang="en-US" dirty="0"/>
          </a:p>
        </p:txBody>
      </p:sp>
      <p:cxnSp>
        <p:nvCxnSpPr>
          <p:cNvPr id="8" name="Straight Connector 7"/>
          <p:cNvCxnSpPr/>
          <p:nvPr userDrawn="1"/>
        </p:nvCxnSpPr>
        <p:spPr>
          <a:xfrm>
            <a:off x="11424239" y="6604000"/>
            <a:ext cx="0" cy="155141"/>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57200" y="6566791"/>
            <a:ext cx="210893" cy="226709"/>
          </a:xfrm>
          <a:prstGeom prst="rect">
            <a:avLst/>
          </a:prstGeom>
        </p:spPr>
      </p:pic>
    </p:spTree>
    <p:extLst>
      <p:ext uri="{BB962C8B-B14F-4D97-AF65-F5344CB8AC3E}">
        <p14:creationId xmlns:p14="http://schemas.microsoft.com/office/powerpoint/2010/main" val="92444638"/>
      </p:ext>
    </p:extLst>
  </p:cSld>
  <p:clrMap bg1="lt1" tx1="dk1" bg2="lt2" tx2="dk2" accent1="accent1" accent2="accent2" accent3="accent3" accent4="accent4" accent5="accent5" accent6="accent6" hlink="hlink" folHlink="folHlink"/>
  <p:sldLayoutIdLst>
    <p:sldLayoutId id="2147483719" r:id="rId1"/>
    <p:sldLayoutId id="2147483692" r:id="rId2"/>
    <p:sldLayoutId id="2147483724" r:id="rId3"/>
    <p:sldLayoutId id="2147483717" r:id="rId4"/>
    <p:sldLayoutId id="2147483697" r:id="rId5"/>
    <p:sldLayoutId id="2147483731" r:id="rId6"/>
    <p:sldLayoutId id="2147483701" r:id="rId7"/>
    <p:sldLayoutId id="2147483732" r:id="rId8"/>
    <p:sldLayoutId id="2147483711" r:id="rId9"/>
    <p:sldLayoutId id="2147483737" r:id="rId10"/>
    <p:sldLayoutId id="2147483720" r:id="rId11"/>
    <p:sldLayoutId id="2147483715" r:id="rId12"/>
  </p:sldLayoutIdLst>
  <p:hf hdr="0"/>
  <p:txStyles>
    <p:titleStyle>
      <a:lvl1pPr algn="l" defTabSz="914400" rtl="0" eaLnBrk="1" latinLnBrk="0" hangingPunct="1">
        <a:lnSpc>
          <a:spcPct val="90000"/>
        </a:lnSpc>
        <a:spcBef>
          <a:spcPct val="0"/>
        </a:spcBef>
        <a:buNone/>
        <a:defRPr sz="3600" b="1" kern="1200" baseline="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0" orient="horz" pos="264" userDrawn="1">
          <p15:clr>
            <a:srgbClr val="F26B43"/>
          </p15:clr>
        </p15:guide>
        <p15:guide id="11" pos="288" userDrawn="1">
          <p15:clr>
            <a:srgbClr val="F26B43"/>
          </p15:clr>
        </p15:guide>
        <p15:guide id="12" pos="7392" userDrawn="1">
          <p15:clr>
            <a:srgbClr val="F26B43"/>
          </p15:clr>
        </p15:guide>
        <p15:guide id="13" orient="horz" pos="3912" userDrawn="1">
          <p15:clr>
            <a:srgbClr val="F26B43"/>
          </p15:clr>
        </p15:guide>
        <p15:guide id="14" pos="3840" userDrawn="1">
          <p15:clr>
            <a:srgbClr val="F26B43"/>
          </p15:clr>
        </p15:guide>
        <p15:guide id="16" orient="horz" pos="936" userDrawn="1">
          <p15:clr>
            <a:srgbClr val="F26B43"/>
          </p15:clr>
        </p15:guide>
        <p15:guide id="17" pos="600" userDrawn="1">
          <p15:clr>
            <a:srgbClr val="F26B43"/>
          </p15:clr>
        </p15:guide>
        <p15:guide id="18" pos="7080" userDrawn="1">
          <p15:clr>
            <a:srgbClr val="F26B43"/>
          </p15:clr>
        </p15:guide>
        <p15:guide id="19" pos="4056" userDrawn="1">
          <p15:clr>
            <a:srgbClr val="F26B43"/>
          </p15:clr>
        </p15:guide>
        <p15:guide id="20" pos="3624" userDrawn="1">
          <p15:clr>
            <a:srgbClr val="F26B43"/>
          </p15:clr>
        </p15:guide>
        <p15:guide id="22" orient="horz" pos="7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799" y="1485900"/>
            <a:ext cx="4725297" cy="2410599"/>
          </a:xfrm>
        </p:spPr>
        <p:txBody>
          <a:bodyPr>
            <a:normAutofit/>
          </a:bodyPr>
          <a:lstStyle/>
          <a:p>
            <a:r>
              <a:rPr lang="en-US" sz="3600" dirty="0"/>
              <a:t>Accelerating Critical </a:t>
            </a:r>
            <a:br>
              <a:rPr lang="en-US" sz="3600" dirty="0"/>
            </a:br>
            <a:r>
              <a:rPr lang="en-US" sz="3600" dirty="0"/>
              <a:t>Contributions </a:t>
            </a:r>
          </a:p>
        </p:txBody>
      </p:sp>
      <p:sp>
        <p:nvSpPr>
          <p:cNvPr id="6" name="Subtitle 5"/>
          <p:cNvSpPr>
            <a:spLocks noGrp="1"/>
          </p:cNvSpPr>
          <p:nvPr>
            <p:ph type="subTitle" idx="1"/>
          </p:nvPr>
        </p:nvSpPr>
        <p:spPr/>
        <p:txBody>
          <a:bodyPr/>
          <a:lstStyle/>
          <a:p>
            <a:r>
              <a:rPr lang="en-US" dirty="0"/>
              <a:t>March 12, 2026</a:t>
            </a:r>
          </a:p>
        </p:txBody>
      </p:sp>
      <p:sp>
        <p:nvSpPr>
          <p:cNvPr id="7" name="Text Placeholder 6"/>
          <p:cNvSpPr>
            <a:spLocks noGrp="1"/>
          </p:cNvSpPr>
          <p:nvPr>
            <p:ph type="body" sz="quarter" idx="13"/>
          </p:nvPr>
        </p:nvSpPr>
        <p:spPr/>
        <p:txBody>
          <a:bodyPr/>
          <a:lstStyle/>
          <a:p>
            <a:r>
              <a:rPr lang="en-US" dirty="0"/>
              <a:t>William Gray-Roncal, PhD</a:t>
            </a:r>
          </a:p>
        </p:txBody>
      </p:sp>
    </p:spTree>
    <p:extLst>
      <p:ext uri="{BB962C8B-B14F-4D97-AF65-F5344CB8AC3E}">
        <p14:creationId xmlns:p14="http://schemas.microsoft.com/office/powerpoint/2010/main" val="150735855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300" b="1" i="0">
                <a:solidFill>
                  <a:srgbClr val="FFFFFF"/>
                </a:solidFill>
                <a:latin typeface="Arial"/>
              </a:rPr>
              <a:t>When have we proofread enough to trust the answer?</a:t>
            </a:r>
          </a:p>
        </p:txBody>
      </p:sp>
      <p:sp>
        <p:nvSpPr>
          <p:cNvPr id="3" name="Subtitle 2"/>
          <p:cNvSpPr>
            <a:spLocks noGrp="1"/>
          </p:cNvSpPr>
          <p:nvPr>
            <p:ph type="subTitle" idx="1"/>
          </p:nvPr>
        </p:nvSpPr>
        <p:spPr/>
        <p:txBody>
          <a:bodyPr/>
          <a:lstStyle/>
          <a:p>
            <a:r>
              <a:rPr sz="1600" b="1" i="0">
                <a:solidFill>
                  <a:srgbClr val="FF9E16"/>
                </a:solidFill>
                <a:latin typeface="Arial"/>
              </a:rPr>
              <a:t>Connectomic proofreading as constrained optimization</a:t>
            </a:r>
          </a:p>
        </p:txBody>
      </p:sp>
      <p:sp>
        <p:nvSpPr>
          <p:cNvPr id="4" name="Text Placeholder 3"/>
          <p:cNvSpPr>
            <a:spLocks noGrp="1"/>
          </p:cNvSpPr>
          <p:nvPr>
            <p:ph type="body" idx="13" sz="quarter"/>
          </p:nvPr>
        </p:nvSpPr>
        <p:spPr/>
        <p:txBody>
          <a:bodyPr/>
          <a:lstStyle/>
          <a:p>
            <a:r>
              <a:rPr sz="1300" b="0" i="0">
                <a:solidFill>
                  <a:srgbClr val="CBD6E6"/>
                </a:solidFill>
                <a:latin typeface="Arial"/>
              </a:rPr>
              <a:t>Will Gray Roncal</a:t>
            </a:r>
          </a:p>
          <a:p>
            <a:r>
              <a:rPr sz="1300" b="0" i="0">
                <a:solidFill>
                  <a:srgbClr val="CBD6E6"/>
                </a:solidFill>
                <a:latin typeface="Arial"/>
              </a:rPr>
              <a:t>Johns Hopkins Applied Physics Laboratory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The problem is a decision, not a dataset</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WHERE TO LOOK, WHEN TO STOP</a:t>
            </a:r>
          </a:p>
        </p:txBody>
      </p:sp>
      <p:sp>
        <p:nvSpPr>
          <p:cNvPr id="4" name="TextBox 3"/>
          <p:cNvSpPr txBox="1"/>
          <p:nvPr/>
        </p:nvSpPr>
        <p:spPr>
          <a:xfrm>
            <a:off x="685800" y="1828800"/>
            <a:ext cx="10789920" cy="457200"/>
          </a:xfrm>
          <a:prstGeom prst="rect">
            <a:avLst/>
          </a:prstGeom>
          <a:noFill/>
        </p:spPr>
        <p:txBody>
          <a:bodyPr wrap="square" anchor="t" lIns="0" rIns="0" tIns="0" bIns="0">
            <a:spAutoFit/>
          </a:bodyPr>
          <a:lstStyle/>
          <a:p>
            <a:pPr algn="l">
              <a:lnSpc>
                <a:spcPct val="100000"/>
              </a:lnSpc>
            </a:pPr>
            <a:r>
              <a:rPr sz="2200" b="1" i="0">
                <a:solidFill>
                  <a:srgbClr val="002C73"/>
                </a:solidFill>
                <a:latin typeface="Arial"/>
              </a:rPr>
              <a:t>Engineering is problem-solving under constraints.</a:t>
            </a:r>
          </a:p>
        </p:txBody>
      </p:sp>
      <p:sp>
        <p:nvSpPr>
          <p:cNvPr id="5" name="Rounded Rectangle 4"/>
          <p:cNvSpPr/>
          <p:nvPr/>
        </p:nvSpPr>
        <p:spPr>
          <a:xfrm>
            <a:off x="685800" y="2697480"/>
            <a:ext cx="5120640" cy="210312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274320" bIns="274320"/>
          <a:lstStyle/>
          <a:p>
            <a:pPr algn="l">
              <a:lnSpc>
                <a:spcPct val="108000"/>
              </a:lnSpc>
            </a:pPr>
            <a:r>
              <a:rPr sz="1200" b="1" i="0">
                <a:solidFill>
                  <a:srgbClr val="FF9E16"/>
                </a:solidFill>
                <a:latin typeface="Arial"/>
              </a:rPr>
              <a:t>THE PROBLEM</a:t>
            </a:r>
          </a:p>
          <a:p>
            <a:pPr algn="l">
              <a:lnSpc>
                <a:spcPct val="108000"/>
              </a:lnSpc>
            </a:pPr>
            <a:r>
              <a:rPr sz="600" b="0" i="0">
                <a:solidFill>
                  <a:srgbClr val="5E6B7E"/>
                </a:solidFill>
                <a:latin typeface="Arial"/>
              </a:rPr>
              <a:t/>
            </a:r>
          </a:p>
          <a:p>
            <a:pPr algn="l">
              <a:lnSpc>
                <a:spcPct val="108000"/>
              </a:lnSpc>
            </a:pPr>
            <a:r>
              <a:rPr sz="1700" b="1" i="0">
                <a:solidFill>
                  <a:srgbClr val="002C73"/>
                </a:solidFill>
                <a:latin typeface="Arial"/>
              </a:rPr>
              <a:t>Test hypotheses using connectomics.</a:t>
            </a:r>
          </a:p>
          <a:p>
            <a:pPr algn="l">
              <a:lnSpc>
                <a:spcPct val="108000"/>
              </a:lnSpc>
            </a:pPr>
            <a:r>
              <a:rPr sz="500" b="0" i="0">
                <a:solidFill>
                  <a:srgbClr val="5E6B7E"/>
                </a:solidFill>
                <a:latin typeface="Arial"/>
              </a:rPr>
              <a:t/>
            </a:r>
          </a:p>
          <a:p>
            <a:pPr algn="l">
              <a:lnSpc>
                <a:spcPct val="108000"/>
              </a:lnSpc>
            </a:pPr>
            <a:r>
              <a:rPr sz="1300" b="0" i="1">
                <a:solidFill>
                  <a:srgbClr val="5E6B7E"/>
                </a:solidFill>
                <a:latin typeface="Arial"/>
              </a:rPr>
              <a:t>Not “reconstruct everything.” A specific inference.</a:t>
            </a:r>
          </a:p>
        </p:txBody>
      </p:sp>
      <p:sp>
        <p:nvSpPr>
          <p:cNvPr id="6" name="Rounded Rectangle 5"/>
          <p:cNvSpPr/>
          <p:nvPr/>
        </p:nvSpPr>
        <p:spPr>
          <a:xfrm>
            <a:off x="6263640" y="2697480"/>
            <a:ext cx="5120640" cy="210312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274320" bIns="274320"/>
          <a:lstStyle/>
          <a:p>
            <a:pPr algn="l">
              <a:lnSpc>
                <a:spcPct val="108000"/>
              </a:lnSpc>
            </a:pPr>
            <a:r>
              <a:rPr sz="1200" b="1" i="0">
                <a:solidFill>
                  <a:srgbClr val="FF9E16"/>
                </a:solidFill>
                <a:latin typeface="Arial"/>
              </a:rPr>
              <a:t>THE CONSTRAINT</a:t>
            </a:r>
          </a:p>
          <a:p>
            <a:pPr algn="l">
              <a:lnSpc>
                <a:spcPct val="108000"/>
              </a:lnSpc>
            </a:pPr>
            <a:r>
              <a:rPr sz="600" b="0" i="0">
                <a:solidFill>
                  <a:srgbClr val="5E6B7E"/>
                </a:solidFill>
                <a:latin typeface="Arial"/>
              </a:rPr>
              <a:t/>
            </a:r>
          </a:p>
          <a:p>
            <a:pPr algn="l">
              <a:lnSpc>
                <a:spcPct val="108000"/>
              </a:lnSpc>
            </a:pPr>
            <a:r>
              <a:rPr sz="1700" b="1" i="0">
                <a:solidFill>
                  <a:srgbClr val="002C73"/>
                </a:solidFill>
                <a:latin typeface="Arial"/>
              </a:rPr>
              <a:t>A finite supply of noisy, expensive expert judgment.</a:t>
            </a:r>
          </a:p>
          <a:p>
            <a:pPr algn="l">
              <a:lnSpc>
                <a:spcPct val="108000"/>
              </a:lnSpc>
            </a:pPr>
            <a:r>
              <a:rPr sz="500" b="0" i="0">
                <a:solidFill>
                  <a:srgbClr val="5E6B7E"/>
                </a:solidFill>
                <a:latin typeface="Arial"/>
              </a:rPr>
              <a:t/>
            </a:r>
          </a:p>
          <a:p>
            <a:pPr algn="l">
              <a:lnSpc>
                <a:spcPct val="108000"/>
              </a:lnSpc>
            </a:pPr>
            <a:r>
              <a:rPr sz="1300" b="0" i="1">
                <a:solidFill>
                  <a:srgbClr val="5E6B7E"/>
                </a:solidFill>
                <a:latin typeface="Arial"/>
              </a:rPr>
              <a:t>Even experts disagree. There is no free ground truth.</a:t>
            </a:r>
          </a:p>
        </p:txBody>
      </p:sp>
      <p:sp>
        <p:nvSpPr>
          <p:cNvPr id="7" name="TextBox 6"/>
          <p:cNvSpPr txBox="1"/>
          <p:nvPr/>
        </p:nvSpPr>
        <p:spPr>
          <a:xfrm>
            <a:off x="685800" y="5074920"/>
            <a:ext cx="10789920" cy="457200"/>
          </a:xfrm>
          <a:prstGeom prst="rect">
            <a:avLst/>
          </a:prstGeom>
          <a:noFill/>
        </p:spPr>
        <p:txBody>
          <a:bodyPr wrap="square" anchor="t" lIns="0" rIns="0" tIns="0" bIns="0">
            <a:spAutoFit/>
          </a:bodyPr>
          <a:lstStyle/>
          <a:p>
            <a:pPr algn="l">
              <a:lnSpc>
                <a:spcPct val="100000"/>
              </a:lnSpc>
            </a:pPr>
            <a:r>
              <a:rPr sz="1400" b="0" i="1">
                <a:solidFill>
                  <a:srgbClr val="222831"/>
                </a:solidFill>
                <a:latin typeface="Arial"/>
              </a:rPr>
              <a:t>So the question isn’t “is the connectome done?” It’s “have we spent enough to trust the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The budget is finite, noisy, and unevenly demanding</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THE CONSTRAINTS</a:t>
            </a:r>
          </a:p>
        </p:txBody>
      </p:sp>
      <p:sp>
        <p:nvSpPr>
          <p:cNvPr id="4" name="Rounded Rectangle 3"/>
          <p:cNvSpPr/>
          <p:nvPr/>
        </p:nvSpPr>
        <p:spPr>
          <a:xfrm>
            <a:off x="685800" y="2194560"/>
            <a:ext cx="3456432" cy="274320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566928" bIns="566928"/>
          <a:lstStyle/>
          <a:p>
            <a:pPr algn="l">
              <a:lnSpc>
                <a:spcPct val="108000"/>
              </a:lnSpc>
            </a:pPr>
            <a:r>
              <a:rPr sz="1800" b="1" i="0">
                <a:solidFill>
                  <a:srgbClr val="002C73"/>
                </a:solidFill>
                <a:latin typeface="Arial"/>
              </a:rPr>
              <a:t>Limited</a:t>
            </a:r>
          </a:p>
          <a:p>
            <a:pPr algn="l">
              <a:lnSpc>
                <a:spcPct val="108000"/>
              </a:lnSpc>
            </a:pPr>
            <a:r>
              <a:rPr sz="800" b="0" i="0">
                <a:solidFill>
                  <a:srgbClr val="5E6B7E"/>
                </a:solidFill>
                <a:latin typeface="Arial"/>
              </a:rPr>
              <a:t/>
            </a:r>
          </a:p>
          <a:p>
            <a:pPr algn="l">
              <a:lnSpc>
                <a:spcPct val="108000"/>
              </a:lnSpc>
            </a:pPr>
            <a:r>
              <a:rPr sz="1450" b="0" i="0">
                <a:solidFill>
                  <a:srgbClr val="222831"/>
                </a:solidFill>
                <a:latin typeface="Arial"/>
              </a:rPr>
              <a:t>Expert proofreading hours are scarce and costly — person-years per volume.</a:t>
            </a:r>
          </a:p>
        </p:txBody>
      </p:sp>
      <p:sp>
        <p:nvSpPr>
          <p:cNvPr id="5" name="Oval 4"/>
          <p:cNvSpPr/>
          <p:nvPr/>
        </p:nvSpPr>
        <p:spPr>
          <a:xfrm>
            <a:off x="1005840" y="2514600"/>
            <a:ext cx="146304" cy="146304"/>
          </a:xfrm>
          <a:prstGeom prst="ellipse">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70832" y="2194560"/>
            <a:ext cx="3456432" cy="274320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566928" bIns="566928"/>
          <a:lstStyle/>
          <a:p>
            <a:pPr algn="l">
              <a:lnSpc>
                <a:spcPct val="108000"/>
              </a:lnSpc>
            </a:pPr>
            <a:r>
              <a:rPr sz="1800" b="1" i="0">
                <a:solidFill>
                  <a:srgbClr val="002C73"/>
                </a:solidFill>
                <a:latin typeface="Arial"/>
              </a:rPr>
              <a:t>Noisy</a:t>
            </a:r>
          </a:p>
          <a:p>
            <a:pPr algn="l">
              <a:lnSpc>
                <a:spcPct val="108000"/>
              </a:lnSpc>
            </a:pPr>
            <a:r>
              <a:rPr sz="800" b="0" i="0">
                <a:solidFill>
                  <a:srgbClr val="5E6B7E"/>
                </a:solidFill>
                <a:latin typeface="Arial"/>
              </a:rPr>
              <a:t/>
            </a:r>
          </a:p>
          <a:p>
            <a:pPr algn="l">
              <a:lnSpc>
                <a:spcPct val="108000"/>
              </a:lnSpc>
            </a:pPr>
            <a:r>
              <a:rPr sz="1450" b="0" i="0">
                <a:solidFill>
                  <a:srgbClr val="222831"/>
                </a:solidFill>
                <a:latin typeface="Arial"/>
              </a:rPr>
              <a:t>Even experts disagree. Ground truth is itself something you have to buy.</a:t>
            </a:r>
          </a:p>
        </p:txBody>
      </p:sp>
      <p:sp>
        <p:nvSpPr>
          <p:cNvPr id="7" name="Oval 6"/>
          <p:cNvSpPr/>
          <p:nvPr/>
        </p:nvSpPr>
        <p:spPr>
          <a:xfrm>
            <a:off x="4690872" y="2514600"/>
            <a:ext cx="146304" cy="146304"/>
          </a:xfrm>
          <a:prstGeom prst="ellipse">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55864" y="2194560"/>
            <a:ext cx="3456432" cy="274320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20040" rIns="320040" tIns="566928" bIns="566928"/>
          <a:lstStyle/>
          <a:p>
            <a:pPr algn="l">
              <a:lnSpc>
                <a:spcPct val="108000"/>
              </a:lnSpc>
            </a:pPr>
            <a:r>
              <a:rPr sz="1800" b="1" i="0">
                <a:solidFill>
                  <a:srgbClr val="002C73"/>
                </a:solidFill>
                <a:latin typeface="Arial"/>
              </a:rPr>
              <a:t>Heterogeneous</a:t>
            </a:r>
          </a:p>
          <a:p>
            <a:pPr algn="l">
              <a:lnSpc>
                <a:spcPct val="108000"/>
              </a:lnSpc>
            </a:pPr>
            <a:r>
              <a:rPr sz="800" b="0" i="0">
                <a:solidFill>
                  <a:srgbClr val="5E6B7E"/>
                </a:solidFill>
                <a:latin typeface="Arial"/>
              </a:rPr>
              <a:t/>
            </a:r>
          </a:p>
          <a:p>
            <a:pPr algn="l">
              <a:lnSpc>
                <a:spcPct val="108000"/>
              </a:lnSpc>
            </a:pPr>
            <a:r>
              <a:rPr sz="1450" b="0" i="0">
                <a:solidFill>
                  <a:srgbClr val="222831"/>
                </a:solidFill>
                <a:latin typeface="Arial"/>
              </a:rPr>
              <a:t>Decisions vary enormously in difficulty — and in how much they matter.</a:t>
            </a:r>
          </a:p>
        </p:txBody>
      </p:sp>
      <p:sp>
        <p:nvSpPr>
          <p:cNvPr id="9" name="Oval 8"/>
          <p:cNvSpPr/>
          <p:nvPr/>
        </p:nvSpPr>
        <p:spPr>
          <a:xfrm>
            <a:off x="8375904" y="2514600"/>
            <a:ext cx="146304" cy="146304"/>
          </a:xfrm>
          <a:prstGeom prst="ellipse">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257800"/>
            <a:ext cx="10789920" cy="365760"/>
          </a:xfrm>
          <a:prstGeom prst="rect">
            <a:avLst/>
          </a:prstGeom>
          <a:noFill/>
        </p:spPr>
        <p:txBody>
          <a:bodyPr wrap="square" anchor="t" lIns="0" rIns="0" tIns="0" bIns="0">
            <a:spAutoFit/>
          </a:bodyPr>
          <a:lstStyle/>
          <a:p>
            <a:pPr algn="l">
              <a:lnSpc>
                <a:spcPct val="100000"/>
              </a:lnSpc>
            </a:pPr>
            <a:r>
              <a:rPr sz="1300" b="0" i="1">
                <a:solidFill>
                  <a:srgbClr val="5E6B7E"/>
                </a:solidFill>
                <a:latin typeface="Arial"/>
              </a:rPr>
              <a:t>“Enough” can’t be a single global threshold when the decisions aren’t interchangeable.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Most edits barely matter. A few rewrite the answer.</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CONSEQUENCE IS SKEWED</a:t>
            </a:r>
          </a:p>
        </p:txBody>
      </p:sp>
      <p:sp>
        <p:nvSpPr>
          <p:cNvPr id="4" name="TextBox 3"/>
          <p:cNvSpPr txBox="1"/>
          <p:nvPr/>
        </p:nvSpPr>
        <p:spPr>
          <a:xfrm>
            <a:off x="685800" y="1627632"/>
            <a:ext cx="5486400" cy="274320"/>
          </a:xfrm>
          <a:prstGeom prst="rect">
            <a:avLst/>
          </a:prstGeom>
          <a:noFill/>
        </p:spPr>
        <p:txBody>
          <a:bodyPr wrap="square" anchor="t" lIns="0" rIns="0" tIns="0" bIns="0">
            <a:spAutoFit/>
          </a:bodyPr>
          <a:lstStyle/>
          <a:p>
            <a:pPr algn="l">
              <a:lnSpc>
                <a:spcPct val="100000"/>
              </a:lnSpc>
            </a:pPr>
            <a:r>
              <a:rPr sz="1100" b="1" i="0">
                <a:solidFill>
                  <a:srgbClr val="5E6B7E"/>
                </a:solidFill>
                <a:latin typeface="Arial"/>
              </a:rPr>
              <a:t>ILLUSTRATIVE SCHEMATIC — NOT DATA</a:t>
            </a:r>
          </a:p>
        </p:txBody>
      </p:sp>
      <p:sp>
        <p:nvSpPr>
          <p:cNvPr id="5" name="Rectangle 4"/>
          <p:cNvSpPr/>
          <p:nvPr/>
        </p:nvSpPr>
        <p:spPr>
          <a:xfrm>
            <a:off x="1280160" y="2606039"/>
            <a:ext cx="566928" cy="2468880"/>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0" y="3452750"/>
            <a:ext cx="566928" cy="1622169"/>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0" y="4009078"/>
            <a:ext cx="566928" cy="1065841"/>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74720" y="4374612"/>
            <a:ext cx="566928" cy="700307"/>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06240" y="4614785"/>
            <a:ext cx="566928" cy="460134"/>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37760" y="4772589"/>
            <a:ext cx="566928" cy="302330"/>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0" y="4876274"/>
            <a:ext cx="566928" cy="198645"/>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4944400"/>
            <a:ext cx="566928" cy="130519"/>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0" y="4989162"/>
            <a:ext cx="566928" cy="85757"/>
          </a:xfrm>
          <a:prstGeom prst="rect">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63840" y="5001768"/>
            <a:ext cx="566928" cy="73152"/>
          </a:xfrm>
          <a:prstGeom prst="rect">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0" y="5001768"/>
            <a:ext cx="566928" cy="73152"/>
          </a:xfrm>
          <a:prstGeom prst="rect">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326880" y="5001768"/>
            <a:ext cx="566928" cy="73152"/>
          </a:xfrm>
          <a:prstGeom prst="rect">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58400" y="5001768"/>
            <a:ext cx="566928" cy="73152"/>
          </a:xfrm>
          <a:prstGeom prst="rect">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188719" y="5074920"/>
            <a:ext cx="9601201" cy="0"/>
          </a:xfrm>
          <a:prstGeom prst="line">
            <a:avLst/>
          </a:prstGeom>
          <a:ln w="12700">
            <a:solidFill>
              <a:srgbClr val="C7D2D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280160" y="5166359"/>
            <a:ext cx="5029200" cy="274320"/>
          </a:xfrm>
          <a:prstGeom prst="rect">
            <a:avLst/>
          </a:prstGeom>
          <a:noFill/>
        </p:spPr>
        <p:txBody>
          <a:bodyPr wrap="square" anchor="t" lIns="0" rIns="0" tIns="0" bIns="0">
            <a:spAutoFit/>
          </a:bodyPr>
          <a:lstStyle/>
          <a:p>
            <a:pPr algn="l">
              <a:lnSpc>
                <a:spcPct val="100000"/>
              </a:lnSpc>
            </a:pPr>
            <a:r>
              <a:rPr sz="1100" b="0" i="1">
                <a:solidFill>
                  <a:srgbClr val="5E6B7E"/>
                </a:solidFill>
                <a:latin typeface="Arial"/>
              </a:rPr>
              <a:t>consequence of an edit  →</a:t>
            </a:r>
          </a:p>
        </p:txBody>
      </p:sp>
      <p:sp>
        <p:nvSpPr>
          <p:cNvPr id="20" name="TextBox 19"/>
          <p:cNvSpPr txBox="1"/>
          <p:nvPr/>
        </p:nvSpPr>
        <p:spPr>
          <a:xfrm>
            <a:off x="1371600" y="2560320"/>
            <a:ext cx="2377440" cy="274320"/>
          </a:xfrm>
          <a:prstGeom prst="rect">
            <a:avLst/>
          </a:prstGeom>
          <a:noFill/>
        </p:spPr>
        <p:txBody>
          <a:bodyPr wrap="square" anchor="t" lIns="0" rIns="0" tIns="0" bIns="0">
            <a:spAutoFit/>
          </a:bodyPr>
          <a:lstStyle/>
          <a:p>
            <a:pPr algn="l">
              <a:lnSpc>
                <a:spcPct val="100000"/>
              </a:lnSpc>
            </a:pPr>
            <a:r>
              <a:rPr sz="1200" b="1" i="0">
                <a:solidFill>
                  <a:srgbClr val="3E8EDE"/>
                </a:solidFill>
                <a:latin typeface="Arial"/>
              </a:rPr>
              <a:t>most edits</a:t>
            </a:r>
          </a:p>
        </p:txBody>
      </p:sp>
      <p:sp>
        <p:nvSpPr>
          <p:cNvPr id="21" name="TextBox 20"/>
          <p:cNvSpPr txBox="1"/>
          <p:nvPr/>
        </p:nvSpPr>
        <p:spPr>
          <a:xfrm>
            <a:off x="6858000" y="3703320"/>
            <a:ext cx="3108960" cy="274320"/>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rewrite the answer</a:t>
            </a:r>
          </a:p>
        </p:txBody>
      </p:sp>
      <p:sp>
        <p:nvSpPr>
          <p:cNvPr id="22" name="Rounded Rectangle 21"/>
          <p:cNvSpPr/>
          <p:nvPr/>
        </p:nvSpPr>
        <p:spPr>
          <a:xfrm>
            <a:off x="9509760" y="2011680"/>
            <a:ext cx="2377440" cy="274320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lnSpc>
                <a:spcPct val="108000"/>
              </a:lnSpc>
            </a:pPr>
            <a:r>
              <a:rPr sz="1200" b="1" i="0">
                <a:solidFill>
                  <a:srgbClr val="FF9E16"/>
                </a:solidFill>
                <a:latin typeface="Arial"/>
              </a:rPr>
              <a:t>The worked case</a:t>
            </a:r>
          </a:p>
          <a:p>
            <a:pPr algn="l">
              <a:lnSpc>
                <a:spcPct val="108000"/>
              </a:lnSpc>
            </a:pPr>
            <a:r>
              <a:rPr sz="600" b="0" i="0">
                <a:solidFill>
                  <a:srgbClr val="5E6B7E"/>
                </a:solidFill>
                <a:latin typeface="Arial"/>
              </a:rPr>
              <a:t/>
            </a:r>
          </a:p>
          <a:p>
            <a:pPr algn="l">
              <a:lnSpc>
                <a:spcPct val="108000"/>
              </a:lnSpc>
            </a:pPr>
            <a:r>
              <a:rPr sz="1350" b="0" i="0">
                <a:solidFill>
                  <a:srgbClr val="222831"/>
                </a:solidFill>
                <a:latin typeface="Arial"/>
              </a:rPr>
              <a:t>A motif census swings on edits a completeness metric never flags.</a:t>
            </a:r>
          </a:p>
          <a:p>
            <a:pPr algn="l">
              <a:lnSpc>
                <a:spcPct val="108000"/>
              </a:lnSpc>
            </a:pPr>
            <a:r>
              <a:rPr sz="600" b="0" i="0">
                <a:solidFill>
                  <a:srgbClr val="5E6B7E"/>
                </a:solidFill>
                <a:latin typeface="Arial"/>
              </a:rPr>
              <a:t/>
            </a:r>
          </a:p>
          <a:p>
            <a:pPr algn="l">
              <a:lnSpc>
                <a:spcPct val="108000"/>
              </a:lnSpc>
            </a:pPr>
            <a:r>
              <a:rPr sz="1100" b="0" i="1">
                <a:solidFill>
                  <a:srgbClr val="5E6B7E"/>
                </a:solidFill>
                <a:latin typeface="Arial"/>
              </a:rPr>
              <a:t>Matelsky &amp; Gray Roncal</a:t>
            </a:r>
          </a:p>
        </p:txBody>
      </p:sp>
      <p:sp>
        <p:nvSpPr>
          <p:cNvPr id="23" name="TextBox 22"/>
          <p:cNvSpPr txBox="1"/>
          <p:nvPr/>
        </p:nvSpPr>
        <p:spPr>
          <a:xfrm>
            <a:off x="685800" y="5440680"/>
            <a:ext cx="8503920" cy="365760"/>
          </a:xfrm>
          <a:prstGeom prst="rect">
            <a:avLst/>
          </a:prstGeom>
          <a:noFill/>
        </p:spPr>
        <p:txBody>
          <a:bodyPr wrap="square" anchor="t" lIns="0" rIns="0" tIns="0" bIns="0">
            <a:spAutoFit/>
          </a:bodyPr>
          <a:lstStyle/>
          <a:p>
            <a:pPr algn="l">
              <a:lnSpc>
                <a:spcPct val="100000"/>
              </a:lnSpc>
            </a:pPr>
            <a:r>
              <a:rPr sz="1300" b="0" i="1">
                <a:solidFill>
                  <a:srgbClr val="5E6B7E"/>
                </a:solidFill>
                <a:latin typeface="Arial"/>
              </a:rPr>
              <a:t>The tail is where the inference lives — and where agreement is hardest to get.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Prior work circled the sufficiency question</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THE LINEAGE OF THE PROBLEM</a:t>
            </a:r>
          </a:p>
        </p:txBody>
      </p:sp>
      <p:sp>
        <p:nvSpPr>
          <p:cNvPr id="4" name="Rounded Rectangle 3"/>
          <p:cNvSpPr/>
          <p:nvPr/>
        </p:nvSpPr>
        <p:spPr>
          <a:xfrm>
            <a:off x="685800" y="1874519"/>
            <a:ext cx="10817352" cy="1078992"/>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tIns="109728" bIns="109728"/>
          <a:lstStyle/>
          <a:p>
            <a:pPr algn="l">
              <a:lnSpc>
                <a:spcPct val="110000"/>
              </a:lnSpc>
            </a:pPr>
            <a:r>
              <a:rPr sz="1550" b="1" i="0">
                <a:solidFill>
                  <a:srgbClr val="002C73"/>
                </a:solidFill>
                <a:latin typeface="Arial"/>
              </a:rPr>
              <a:t>Defined “enough” — globally</a:t>
            </a:r>
            <a:r>
              <a:rPr sz="1300" b="0" i="0">
                <a:solidFill>
                  <a:srgbClr val="222831"/>
                </a:solidFill>
                <a:latin typeface="Arial"/>
              </a:rPr>
              <a:t>   —  Connectivity proxies and completeness: i2g, CONFIRMS (ours), NRI, ERL, synaptic completeness.</a:t>
            </a:r>
          </a:p>
          <a:p>
            <a:pPr algn="l">
              <a:lnSpc>
                <a:spcPct val="110000"/>
              </a:lnSpc>
            </a:pPr>
            <a:r>
              <a:rPr sz="1200" b="0" i="1">
                <a:solidFill>
                  <a:srgbClr val="5E6B7E"/>
                </a:solidFill>
                <a:latin typeface="Arial"/>
              </a:rPr>
              <a:t>Measured against the dataset, edge-agnostic — including our own.</a:t>
            </a:r>
          </a:p>
        </p:txBody>
      </p:sp>
      <p:sp>
        <p:nvSpPr>
          <p:cNvPr id="5" name="Rounded Rectangle 4"/>
          <p:cNvSpPr/>
          <p:nvPr/>
        </p:nvSpPr>
        <p:spPr>
          <a:xfrm>
            <a:off x="685800" y="3081528"/>
            <a:ext cx="10817352" cy="1078992"/>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tIns="109728" bIns="109728"/>
          <a:lstStyle/>
          <a:p>
            <a:pPr algn="l">
              <a:lnSpc>
                <a:spcPct val="110000"/>
              </a:lnSpc>
            </a:pPr>
            <a:r>
              <a:rPr sz="1550" b="1" i="0">
                <a:solidFill>
                  <a:srgbClr val="002C73"/>
                </a:solidFill>
                <a:latin typeface="Arial"/>
              </a:rPr>
              <a:t>Made each edit cheaper</a:t>
            </a:r>
            <a:r>
              <a:rPr sz="1300" b="0" i="0">
                <a:solidFill>
                  <a:srgbClr val="222831"/>
                </a:solidFill>
                <a:latin typeface="Arial"/>
              </a:rPr>
              <a:t>   —  Focused proofreading; Autoproof / NEURD; RoboEM.</a:t>
            </a:r>
          </a:p>
          <a:p>
            <a:pPr algn="l">
              <a:lnSpc>
                <a:spcPct val="110000"/>
              </a:lnSpc>
            </a:pPr>
            <a:r>
              <a:rPr sz="1200" b="0" i="1">
                <a:solidFill>
                  <a:srgbClr val="5E6B7E"/>
                </a:solidFill>
                <a:latin typeface="Arial"/>
              </a:rPr>
              <a:t>Reach “enough” faster — without defining it.</a:t>
            </a:r>
          </a:p>
        </p:txBody>
      </p:sp>
      <p:sp>
        <p:nvSpPr>
          <p:cNvPr id="6" name="Rounded Rectangle 5"/>
          <p:cNvSpPr/>
          <p:nvPr/>
        </p:nvSpPr>
        <p:spPr>
          <a:xfrm>
            <a:off x="685800" y="4288536"/>
            <a:ext cx="10817352" cy="1078992"/>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tIns="109728" bIns="109728"/>
          <a:lstStyle/>
          <a:p>
            <a:pPr algn="l">
              <a:lnSpc>
                <a:spcPct val="110000"/>
              </a:lnSpc>
            </a:pPr>
            <a:r>
              <a:rPr sz="1550" b="1" i="0">
                <a:solidFill>
                  <a:srgbClr val="002C73"/>
                </a:solidFill>
                <a:latin typeface="Arial"/>
              </a:rPr>
              <a:t>Used analysis as the metric</a:t>
            </a:r>
            <a:r>
              <a:rPr sz="1300" b="0" i="0">
                <a:solidFill>
                  <a:srgbClr val="222831"/>
                </a:solidFill>
                <a:latin typeface="Arial"/>
              </a:rPr>
              <a:t>   —  RoboEM (Motta et al.) validated automation by analysis outcome; our motif work, per output.</a:t>
            </a:r>
          </a:p>
          <a:p>
            <a:pPr algn="l">
              <a:lnSpc>
                <a:spcPct val="110000"/>
              </a:lnSpc>
            </a:pPr>
            <a:r>
              <a:rPr sz="1200" b="0" i="1">
                <a:solidFill>
                  <a:srgbClr val="5E6B7E"/>
                </a:solidFill>
                <a:latin typeface="Arial"/>
              </a:rPr>
              <a:t>Task-relative — but to certify a method, not to allocate proofreading.</a:t>
            </a:r>
          </a:p>
        </p:txBody>
      </p:sp>
      <p:sp>
        <p:nvSpPr>
          <p:cNvPr id="7" name="TextBox 6"/>
          <p:cNvSpPr txBox="1"/>
          <p:nvPr/>
        </p:nvSpPr>
        <p:spPr>
          <a:xfrm>
            <a:off x="685800" y="5577840"/>
            <a:ext cx="10817352" cy="457200"/>
          </a:xfrm>
          <a:prstGeom prst="rect">
            <a:avLst/>
          </a:prstGeom>
          <a:noFill/>
        </p:spPr>
        <p:txBody>
          <a:bodyPr wrap="square" anchor="t" lIns="0" rIns="0" tIns="0" bIns="0">
            <a:spAutoFit/>
          </a:bodyPr>
          <a:lstStyle/>
          <a:p>
            <a:pPr algn="l">
              <a:lnSpc>
                <a:spcPct val="100000"/>
              </a:lnSpc>
            </a:pPr>
            <a:r>
              <a:rPr sz="1350" b="1" i="1">
                <a:solidFill>
                  <a:srgbClr val="FF9E16"/>
                </a:solidFill>
                <a:latin typeface="Arial"/>
              </a:rPr>
              <a:t>The idea is in the air. What’s missing is an operational way to spend limited expert effort against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Two things the budget buys</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VALIDATION VS. CORRECTION</a:t>
            </a:r>
          </a:p>
        </p:txBody>
      </p:sp>
      <p:sp>
        <p:nvSpPr>
          <p:cNvPr id="4" name="Rounded Rectangle 3"/>
          <p:cNvSpPr/>
          <p:nvPr/>
        </p:nvSpPr>
        <p:spPr>
          <a:xfrm>
            <a:off x="685800" y="2103120"/>
            <a:ext cx="5120640" cy="2377440"/>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320040" bIns="320040"/>
          <a:lstStyle/>
          <a:p>
            <a:pPr algn="l">
              <a:lnSpc>
                <a:spcPct val="108000"/>
              </a:lnSpc>
            </a:pPr>
            <a:r>
              <a:rPr sz="1300" b="1" i="0">
                <a:solidFill>
                  <a:srgbClr val="FF9E16"/>
                </a:solidFill>
                <a:latin typeface="Arial"/>
              </a:rPr>
              <a:t>CORRECTION</a:t>
            </a:r>
          </a:p>
          <a:p>
            <a:pPr algn="l">
              <a:lnSpc>
                <a:spcPct val="108000"/>
              </a:lnSpc>
            </a:pPr>
            <a:r>
              <a:rPr sz="600" b="0" i="0">
                <a:solidFill>
                  <a:srgbClr val="5E6B7E"/>
                </a:solidFill>
                <a:latin typeface="Arial"/>
              </a:rPr>
              <a:t/>
            </a:r>
          </a:p>
          <a:p>
            <a:pPr algn="l">
              <a:lnSpc>
                <a:spcPct val="108000"/>
              </a:lnSpc>
            </a:pPr>
            <a:r>
              <a:rPr sz="1800" b="1" i="0">
                <a:solidFill>
                  <a:srgbClr val="002C73"/>
                </a:solidFill>
                <a:latin typeface="Arial"/>
              </a:rPr>
              <a:t>Changes the connectome.</a:t>
            </a:r>
          </a:p>
          <a:p>
            <a:pPr algn="l">
              <a:lnSpc>
                <a:spcPct val="108000"/>
              </a:lnSpc>
            </a:pPr>
            <a:r>
              <a:rPr sz="400" b="0" i="0">
                <a:solidFill>
                  <a:srgbClr val="5E6B7E"/>
                </a:solidFill>
                <a:latin typeface="Arial"/>
              </a:rPr>
              <a:t/>
            </a:r>
          </a:p>
          <a:p>
            <a:pPr algn="l">
              <a:lnSpc>
                <a:spcPct val="108000"/>
              </a:lnSpc>
            </a:pPr>
            <a:r>
              <a:rPr sz="1400" b="0" i="0">
                <a:solidFill>
                  <a:srgbClr val="222831"/>
                </a:solidFill>
                <a:latin typeface="Arial"/>
              </a:rPr>
              <a:t>Fix merges, splits, missed partners.</a:t>
            </a:r>
          </a:p>
        </p:txBody>
      </p:sp>
      <p:sp>
        <p:nvSpPr>
          <p:cNvPr id="5" name="Rounded Rectangle 4"/>
          <p:cNvSpPr/>
          <p:nvPr/>
        </p:nvSpPr>
        <p:spPr>
          <a:xfrm>
            <a:off x="6263640" y="2103120"/>
            <a:ext cx="5120640" cy="2377440"/>
          </a:xfrm>
          <a:prstGeom prst="roundRect">
            <a:avLst>
              <a:gd name="adj" fmla="val 6000"/>
            </a:avLst>
          </a:prstGeom>
          <a:solidFill>
            <a:srgbClr val="FFEACB"/>
          </a:solidFill>
          <a:ln w="19050">
            <a:solidFill>
              <a:srgbClr val="FF9E1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320040" bIns="320040"/>
          <a:lstStyle/>
          <a:p>
            <a:pPr algn="l">
              <a:lnSpc>
                <a:spcPct val="108000"/>
              </a:lnSpc>
            </a:pPr>
            <a:r>
              <a:rPr sz="1300" b="1" i="0">
                <a:solidFill>
                  <a:srgbClr val="FF9E16"/>
                </a:solidFill>
                <a:latin typeface="Arial"/>
              </a:rPr>
              <a:t>VALIDATION</a:t>
            </a:r>
          </a:p>
          <a:p>
            <a:pPr algn="l">
              <a:lnSpc>
                <a:spcPct val="108000"/>
              </a:lnSpc>
            </a:pPr>
            <a:r>
              <a:rPr sz="600" b="0" i="0">
                <a:solidFill>
                  <a:srgbClr val="5E6B7E"/>
                </a:solidFill>
                <a:latin typeface="Arial"/>
              </a:rPr>
              <a:t/>
            </a:r>
          </a:p>
          <a:p>
            <a:pPr algn="l">
              <a:lnSpc>
                <a:spcPct val="108000"/>
              </a:lnSpc>
            </a:pPr>
            <a:r>
              <a:rPr sz="1800" b="1" i="0">
                <a:solidFill>
                  <a:srgbClr val="002C73"/>
                </a:solidFill>
                <a:latin typeface="Arial"/>
              </a:rPr>
              <a:t>Tells you whether to trust it.</a:t>
            </a:r>
          </a:p>
          <a:p>
            <a:pPr algn="l">
              <a:lnSpc>
                <a:spcPct val="108000"/>
              </a:lnSpc>
            </a:pPr>
            <a:r>
              <a:rPr sz="400" b="0" i="0">
                <a:solidFill>
                  <a:srgbClr val="5E6B7E"/>
                </a:solidFill>
                <a:latin typeface="Arial"/>
              </a:rPr>
              <a:t/>
            </a:r>
          </a:p>
          <a:p>
            <a:pPr algn="l">
              <a:lnSpc>
                <a:spcPct val="108000"/>
              </a:lnSpc>
            </a:pPr>
            <a:r>
              <a:rPr sz="1400" b="0" i="0">
                <a:solidFill>
                  <a:srgbClr val="222831"/>
                </a:solidFill>
                <a:latin typeface="Arial"/>
              </a:rPr>
              <a:t>CONFIRMS / MICrONS — assessment, not editing.</a:t>
            </a:r>
          </a:p>
        </p:txBody>
      </p:sp>
      <p:sp>
        <p:nvSpPr>
          <p:cNvPr id="6" name="TextBox 5"/>
          <p:cNvSpPr txBox="1"/>
          <p:nvPr/>
        </p:nvSpPr>
        <p:spPr>
          <a:xfrm>
            <a:off x="6263640" y="4160520"/>
            <a:ext cx="5120640" cy="274320"/>
          </a:xfrm>
          <a:prstGeom prst="rect">
            <a:avLst/>
          </a:prstGeom>
          <a:noFill/>
        </p:spPr>
        <p:txBody>
          <a:bodyPr wrap="square" anchor="t" lIns="0" rIns="0" tIns="0" bIns="0">
            <a:spAutoFit/>
          </a:bodyPr>
          <a:lstStyle/>
          <a:p>
            <a:pPr algn="l">
              <a:lnSpc>
                <a:spcPct val="100000"/>
              </a:lnSpc>
            </a:pPr>
            <a:r>
              <a:rPr sz="1200" b="0" i="1">
                <a:solidFill>
                  <a:srgbClr val="5E6B7E"/>
                </a:solidFill>
                <a:latin typeface="Arial"/>
              </a:rPr>
              <a:t>Routing for both runs on NeuVue.</a:t>
            </a:r>
          </a:p>
        </p:txBody>
      </p:sp>
      <p:sp>
        <p:nvSpPr>
          <p:cNvPr id="7" name="TextBox 6"/>
          <p:cNvSpPr txBox="1"/>
          <p:nvPr/>
        </p:nvSpPr>
        <p:spPr>
          <a:xfrm>
            <a:off x="685800" y="4800600"/>
            <a:ext cx="10817352" cy="914400"/>
          </a:xfrm>
          <a:prstGeom prst="rect">
            <a:avLst/>
          </a:prstGeom>
          <a:noFill/>
        </p:spPr>
        <p:txBody>
          <a:bodyPr wrap="square" anchor="t" lIns="0" rIns="0" tIns="0" bIns="0">
            <a:spAutoFit/>
          </a:bodyPr>
          <a:lstStyle/>
          <a:p>
            <a:pPr algn="l">
              <a:lnSpc>
                <a:spcPct val="120000"/>
              </a:lnSpc>
            </a:pPr>
            <a:r>
              <a:rPr sz="1500" b="1" i="0">
                <a:solidFill>
                  <a:srgbClr val="222831"/>
                </a:solidFill>
                <a:latin typeface="Arial"/>
              </a:rPr>
              <a:t>Same scarce expert budget — different products. </a:t>
            </a:r>
            <a:r>
              <a:rPr sz="1500" b="0" i="0">
                <a:solidFill>
                  <a:srgbClr val="222831"/>
                </a:solidFill>
                <a:latin typeface="Arial"/>
              </a:rPr>
              <a:t>How you split it between fixing and certifying is part of the problem, not a detail.</a:t>
            </a:r>
          </a:p>
          <a:p>
            <a:pPr algn="l">
              <a:lnSpc>
                <a:spcPct val="120000"/>
              </a:lnSpc>
            </a:pPr>
            <a:r>
              <a:rPr sz="1300" b="0" i="1">
                <a:solidFill>
                  <a:srgbClr val="5E6B7E"/>
                </a:solidFill>
                <a:latin typeface="Arial"/>
              </a:rPr>
              <a:t>High-consequence regions warrant validation; low-consequence ones may not warrant correction.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Allocate by impact × risk</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THE STRUCTURE OVER DECISIONS</a:t>
            </a:r>
          </a:p>
        </p:txBody>
      </p:sp>
      <p:cxnSp>
        <p:nvCxnSpPr>
          <p:cNvPr id="4" name="Connector 3"/>
          <p:cNvCxnSpPr/>
          <p:nvPr/>
        </p:nvCxnSpPr>
        <p:spPr>
          <a:xfrm>
            <a:off x="2377440" y="2057400"/>
            <a:ext cx="0" cy="2971800"/>
          </a:xfrm>
          <a:prstGeom prst="line">
            <a:avLst/>
          </a:prstGeom>
          <a:ln w="19050">
            <a:solidFill>
              <a:srgbClr val="5E6B7E"/>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377440" y="5029200"/>
            <a:ext cx="8229600" cy="0"/>
          </a:xfrm>
          <a:prstGeom prst="line">
            <a:avLst/>
          </a:prstGeom>
          <a:ln w="19050">
            <a:solidFill>
              <a:srgbClr val="5E6B7E"/>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965960"/>
            <a:ext cx="1554480" cy="3108960"/>
          </a:xfrm>
          <a:prstGeom prst="rect">
            <a:avLst/>
          </a:prstGeom>
          <a:noFill/>
        </p:spPr>
        <p:txBody>
          <a:bodyPr wrap="square" anchor="ctr" lIns="0" rIns="0" tIns="0" bIns="0">
            <a:spAutoFit/>
          </a:bodyPr>
          <a:lstStyle/>
          <a:p>
            <a:pPr algn="l">
              <a:lnSpc>
                <a:spcPct val="100000"/>
              </a:lnSpc>
            </a:pPr>
            <a:r>
              <a:rPr sz="1200" b="1" i="0">
                <a:solidFill>
                  <a:srgbClr val="5E6B7E"/>
                </a:solidFill>
                <a:latin typeface="Arial"/>
              </a:rPr>
              <a:t>impact ↑</a:t>
            </a:r>
          </a:p>
        </p:txBody>
      </p:sp>
      <p:sp>
        <p:nvSpPr>
          <p:cNvPr id="7" name="TextBox 6"/>
          <p:cNvSpPr txBox="1"/>
          <p:nvPr/>
        </p:nvSpPr>
        <p:spPr>
          <a:xfrm>
            <a:off x="2377440" y="5138928"/>
            <a:ext cx="8229600" cy="274320"/>
          </a:xfrm>
          <a:prstGeom prst="rect">
            <a:avLst/>
          </a:prstGeom>
          <a:noFill/>
        </p:spPr>
        <p:txBody>
          <a:bodyPr wrap="square" anchor="t" lIns="0" rIns="0" tIns="0" bIns="0">
            <a:spAutoFit/>
          </a:bodyPr>
          <a:lstStyle/>
          <a:p>
            <a:pPr algn="l">
              <a:lnSpc>
                <a:spcPct val="100000"/>
              </a:lnSpc>
            </a:pPr>
            <a:r>
              <a:rPr sz="1200" b="1" i="0">
                <a:solidFill>
                  <a:srgbClr val="5E6B7E"/>
                </a:solidFill>
                <a:latin typeface="Arial"/>
              </a:rPr>
              <a:t>risk / disagreement  →</a:t>
            </a:r>
          </a:p>
        </p:txBody>
      </p:sp>
      <p:sp>
        <p:nvSpPr>
          <p:cNvPr id="8" name="Rounded Rectangle 7"/>
          <p:cNvSpPr/>
          <p:nvPr/>
        </p:nvSpPr>
        <p:spPr>
          <a:xfrm>
            <a:off x="2606040" y="2148840"/>
            <a:ext cx="3840480" cy="1325880"/>
          </a:xfrm>
          <a:prstGeom prst="roundRect">
            <a:avLst>
              <a:gd name="adj" fmla="val 6000"/>
            </a:avLst>
          </a:prstGeom>
          <a:solidFill>
            <a:srgbClr val="FFEACB"/>
          </a:solidFill>
          <a:ln w="16510">
            <a:solidFill>
              <a:srgbClr val="FF9E16"/>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164592" bIns="164592"/>
          <a:lstStyle/>
          <a:p>
            <a:pPr algn="l">
              <a:lnSpc>
                <a:spcPct val="105000"/>
              </a:lnSpc>
            </a:pPr>
            <a:r>
              <a:rPr sz="1450" b="1" i="0">
                <a:solidFill>
                  <a:srgbClr val="002C73"/>
                </a:solidFill>
                <a:latin typeface="Arial"/>
              </a:rPr>
              <a:t>Spend here</a:t>
            </a:r>
          </a:p>
          <a:p>
            <a:pPr algn="l">
              <a:lnSpc>
                <a:spcPct val="105000"/>
              </a:lnSpc>
            </a:pPr>
            <a:r>
              <a:rPr sz="1200" b="0" i="0">
                <a:solidFill>
                  <a:srgbClr val="5E6B7E"/>
                </a:solidFill>
                <a:latin typeface="Arial"/>
              </a:rPr>
              <a:t>high impact, uncertain</a:t>
            </a:r>
          </a:p>
        </p:txBody>
      </p:sp>
      <p:sp>
        <p:nvSpPr>
          <p:cNvPr id="9" name="Rounded Rectangle 8"/>
          <p:cNvSpPr/>
          <p:nvPr/>
        </p:nvSpPr>
        <p:spPr>
          <a:xfrm>
            <a:off x="6720840" y="2148840"/>
            <a:ext cx="3840480" cy="1325880"/>
          </a:xfrm>
          <a:prstGeom prst="roundRect">
            <a:avLst>
              <a:gd name="adj" fmla="val 6000"/>
            </a:avLst>
          </a:prstGeom>
          <a:solidFill>
            <a:srgbClr val="FFFFFF"/>
          </a:solidFill>
          <a:ln w="1651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164592" bIns="164592"/>
          <a:lstStyle/>
          <a:p>
            <a:pPr algn="l">
              <a:lnSpc>
                <a:spcPct val="105000"/>
              </a:lnSpc>
            </a:pPr>
            <a:r>
              <a:rPr sz="1450" b="1" i="0">
                <a:solidFill>
                  <a:srgbClr val="5E6B7E"/>
                </a:solidFill>
                <a:latin typeface="Arial"/>
              </a:rPr>
              <a:t>Validate, don’t over-edit</a:t>
            </a:r>
          </a:p>
          <a:p>
            <a:pPr algn="l">
              <a:lnSpc>
                <a:spcPct val="105000"/>
              </a:lnSpc>
            </a:pPr>
            <a:r>
              <a:rPr sz="1200" b="0" i="0">
                <a:solidFill>
                  <a:srgbClr val="5E6B7E"/>
                </a:solidFill>
                <a:latin typeface="Arial"/>
              </a:rPr>
              <a:t>high impact, agreed</a:t>
            </a:r>
          </a:p>
        </p:txBody>
      </p:sp>
      <p:sp>
        <p:nvSpPr>
          <p:cNvPr id="10" name="Rounded Rectangle 9"/>
          <p:cNvSpPr/>
          <p:nvPr/>
        </p:nvSpPr>
        <p:spPr>
          <a:xfrm>
            <a:off x="2606040" y="3703320"/>
            <a:ext cx="3840480" cy="1325880"/>
          </a:xfrm>
          <a:prstGeom prst="roundRect">
            <a:avLst>
              <a:gd name="adj" fmla="val 6000"/>
            </a:avLst>
          </a:prstGeom>
          <a:solidFill>
            <a:srgbClr val="FFFFFF"/>
          </a:solidFill>
          <a:ln w="1651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164592" bIns="164592"/>
          <a:lstStyle/>
          <a:p>
            <a:pPr algn="l">
              <a:lnSpc>
                <a:spcPct val="105000"/>
              </a:lnSpc>
            </a:pPr>
            <a:r>
              <a:rPr sz="1450" b="1" i="0">
                <a:solidFill>
                  <a:srgbClr val="5E6B7E"/>
                </a:solidFill>
                <a:latin typeface="Arial"/>
              </a:rPr>
              <a:t>Cheap or automate</a:t>
            </a:r>
          </a:p>
          <a:p>
            <a:pPr algn="l">
              <a:lnSpc>
                <a:spcPct val="105000"/>
              </a:lnSpc>
            </a:pPr>
            <a:r>
              <a:rPr sz="1200" b="0" i="0">
                <a:solidFill>
                  <a:srgbClr val="5E6B7E"/>
                </a:solidFill>
                <a:latin typeface="Arial"/>
              </a:rPr>
              <a:t>low impact, uncertain</a:t>
            </a:r>
          </a:p>
        </p:txBody>
      </p:sp>
      <p:sp>
        <p:nvSpPr>
          <p:cNvPr id="11" name="Rounded Rectangle 10"/>
          <p:cNvSpPr/>
          <p:nvPr/>
        </p:nvSpPr>
        <p:spPr>
          <a:xfrm>
            <a:off x="6720840" y="3703320"/>
            <a:ext cx="3840480" cy="1325880"/>
          </a:xfrm>
          <a:prstGeom prst="roundRect">
            <a:avLst>
              <a:gd name="adj" fmla="val 6000"/>
            </a:avLst>
          </a:prstGeom>
          <a:solidFill>
            <a:srgbClr val="FFFFFF"/>
          </a:solidFill>
          <a:ln w="1651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164592" bIns="164592"/>
          <a:lstStyle/>
          <a:p>
            <a:pPr algn="l">
              <a:lnSpc>
                <a:spcPct val="105000"/>
              </a:lnSpc>
            </a:pPr>
            <a:r>
              <a:rPr sz="1450" b="1" i="0">
                <a:solidFill>
                  <a:srgbClr val="5E6B7E"/>
                </a:solidFill>
                <a:latin typeface="Arial"/>
              </a:rPr>
              <a:t>Skip</a:t>
            </a:r>
          </a:p>
          <a:p>
            <a:pPr algn="l">
              <a:lnSpc>
                <a:spcPct val="105000"/>
              </a:lnSpc>
            </a:pPr>
            <a:r>
              <a:rPr sz="1200" b="0" i="0">
                <a:solidFill>
                  <a:srgbClr val="5E6B7E"/>
                </a:solidFill>
                <a:latin typeface="Arial"/>
              </a:rPr>
              <a:t>low impact, agreed</a:t>
            </a:r>
          </a:p>
        </p:txBody>
      </p:sp>
      <p:sp>
        <p:nvSpPr>
          <p:cNvPr id="12" name="TextBox 11"/>
          <p:cNvSpPr txBox="1"/>
          <p:nvPr/>
        </p:nvSpPr>
        <p:spPr>
          <a:xfrm>
            <a:off x="685800" y="5532120"/>
            <a:ext cx="10817352" cy="365760"/>
          </a:xfrm>
          <a:prstGeom prst="rect">
            <a:avLst/>
          </a:prstGeom>
          <a:noFill/>
        </p:spPr>
        <p:txBody>
          <a:bodyPr wrap="square" anchor="t" lIns="0" rIns="0" tIns="0" bIns="0">
            <a:spAutoFit/>
          </a:bodyPr>
          <a:lstStyle/>
          <a:p>
            <a:pPr algn="l">
              <a:lnSpc>
                <a:spcPct val="100000"/>
              </a:lnSpc>
            </a:pPr>
            <a:r>
              <a:rPr sz="1300" b="0" i="1">
                <a:solidFill>
                  <a:srgbClr val="5E6B7E"/>
                </a:solidFill>
                <a:latin typeface="Arial"/>
              </a:rPr>
              <a:t>Route each decision — and the right annotator — to where impact and risk are both high.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You can’t allocate a budget you can’t measure</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PRICING THE BUDGET = CALIBRATING THE ANNOTATORS</a:t>
            </a:r>
          </a:p>
        </p:txBody>
      </p:sp>
      <p:sp>
        <p:nvSpPr>
          <p:cNvPr id="4" name="TextBox 3"/>
          <p:cNvSpPr txBox="1"/>
          <p:nvPr/>
        </p:nvSpPr>
        <p:spPr>
          <a:xfrm>
            <a:off x="685800" y="1874519"/>
            <a:ext cx="5852160" cy="2194560"/>
          </a:xfrm>
          <a:prstGeom prst="rect">
            <a:avLst/>
          </a:prstGeom>
          <a:noFill/>
        </p:spPr>
        <p:txBody>
          <a:bodyPr wrap="square" anchor="t" lIns="0" rIns="0" tIns="0" bIns="0">
            <a:spAutoFit/>
          </a:bodyPr>
          <a:lstStyle/>
          <a:p>
            <a:pPr algn="l">
              <a:lnSpc>
                <a:spcPct val="112000"/>
              </a:lnSpc>
            </a:pPr>
            <a:r>
              <a:rPr sz="1800" b="1" i="0">
                <a:solidFill>
                  <a:srgbClr val="002C73"/>
                </a:solidFill>
                <a:latin typeface="Arial"/>
              </a:rPr>
              <a:t>To allocate expert judgment, you have to price it.</a:t>
            </a:r>
          </a:p>
          <a:p>
            <a:pPr algn="l">
              <a:lnSpc>
                <a:spcPct val="112000"/>
              </a:lnSpc>
            </a:pPr>
            <a:r>
              <a:rPr sz="800" b="0" i="0">
                <a:solidFill>
                  <a:srgbClr val="5E6B7E"/>
                </a:solidFill>
                <a:latin typeface="Arial"/>
              </a:rPr>
              <a:t/>
            </a:r>
          </a:p>
          <a:p>
            <a:pPr algn="l">
              <a:lnSpc>
                <a:spcPct val="112000"/>
              </a:lnSpc>
            </a:pPr>
            <a:r>
              <a:rPr sz="1500" b="0" i="0">
                <a:solidFill>
                  <a:srgbClr val="222831"/>
                </a:solidFill>
                <a:latin typeface="Arial"/>
              </a:rPr>
              <a:t>Characterize proofreaders: per-task, per-region competence, and how much they agree.</a:t>
            </a:r>
          </a:p>
          <a:p>
            <a:pPr algn="l">
              <a:lnSpc>
                <a:spcPct val="112000"/>
              </a:lnSpc>
            </a:pPr>
            <a:r>
              <a:rPr sz="600" b="0" i="0">
                <a:solidFill>
                  <a:srgbClr val="5E6B7E"/>
                </a:solidFill>
                <a:latin typeface="Arial"/>
              </a:rPr>
              <a:t/>
            </a:r>
          </a:p>
          <a:p>
            <a:pPr algn="l">
              <a:lnSpc>
                <a:spcPct val="112000"/>
              </a:lnSpc>
            </a:pPr>
            <a:r>
              <a:rPr sz="1400" b="0" i="0">
                <a:solidFill>
                  <a:srgbClr val="5E6B7E"/>
                </a:solidFill>
                <a:latin typeface="Arial"/>
              </a:rPr>
              <a:t>This is why some learn to see a neuron and others don’t — not a verdict on people, a measurement of the task.</a:t>
            </a:r>
          </a:p>
        </p:txBody>
      </p:sp>
      <p:sp>
        <p:nvSpPr>
          <p:cNvPr id="5" name="Rounded Rectangle 4"/>
          <p:cNvSpPr/>
          <p:nvPr/>
        </p:nvSpPr>
        <p:spPr>
          <a:xfrm>
            <a:off x="6949440" y="1874519"/>
            <a:ext cx="4434840" cy="3200400"/>
          </a:xfrm>
          <a:prstGeom prst="roundRect">
            <a:avLst>
              <a:gd name="adj" fmla="val 6000"/>
            </a:avLst>
          </a:prstGeom>
          <a:solidFill>
            <a:srgbClr val="FFEACB"/>
          </a:solidFill>
          <a:ln w="19050">
            <a:solidFill>
              <a:srgbClr val="FF9E1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457200" bIns="457200"/>
          <a:lstStyle/>
          <a:p>
            <a:pPr algn="l">
              <a:lnSpc>
                <a:spcPct val="108000"/>
              </a:lnSpc>
            </a:pPr>
            <a:r>
              <a:rPr sz="1350" b="1" i="0">
                <a:solidFill>
                  <a:srgbClr val="FF9E16"/>
                </a:solidFill>
                <a:latin typeface="Arial"/>
              </a:rPr>
              <a:t>What “reliable” means here</a:t>
            </a:r>
          </a:p>
          <a:p>
            <a:pPr algn="l">
              <a:lnSpc>
                <a:spcPct val="108000"/>
              </a:lnSpc>
            </a:pPr>
            <a:r>
              <a:rPr sz="600" b="0" i="0">
                <a:solidFill>
                  <a:srgbClr val="5E6B7E"/>
                </a:solidFill>
                <a:latin typeface="Arial"/>
              </a:rPr>
              <a:t/>
            </a:r>
          </a:p>
          <a:p>
            <a:pPr algn="l">
              <a:lnSpc>
                <a:spcPct val="108000"/>
              </a:lnSpc>
            </a:pPr>
            <a:r>
              <a:rPr sz="1500" b="0" i="0">
                <a:solidFill>
                  <a:srgbClr val="222831"/>
                </a:solidFill>
                <a:latin typeface="Arial"/>
              </a:rPr>
              <a:t>Not matching a gold standard — there isn’t one; experts disagree.</a:t>
            </a:r>
          </a:p>
          <a:p>
            <a:pPr algn="l">
              <a:lnSpc>
                <a:spcPct val="108000"/>
              </a:lnSpc>
            </a:pPr>
            <a:r>
              <a:rPr sz="600" b="0" i="0">
                <a:solidFill>
                  <a:srgbClr val="5E6B7E"/>
                </a:solidFill>
                <a:latin typeface="Arial"/>
              </a:rPr>
              <a:t/>
            </a:r>
          </a:p>
          <a:p>
            <a:pPr algn="l">
              <a:lnSpc>
                <a:spcPct val="108000"/>
              </a:lnSpc>
            </a:pPr>
            <a:r>
              <a:rPr sz="1500" b="1" i="0">
                <a:solidFill>
                  <a:srgbClr val="222831"/>
                </a:solidFill>
                <a:latin typeface="Arial"/>
              </a:rPr>
              <a:t>It means converged agreement on the decisions the inference depends on.</a:t>
            </a:r>
          </a:p>
        </p:txBody>
      </p:sp>
      <p:sp>
        <p:nvSpPr>
          <p:cNvPr id="6" name="Oval 5"/>
          <p:cNvSpPr/>
          <p:nvPr/>
        </p:nvSpPr>
        <p:spPr>
          <a:xfrm>
            <a:off x="7269480" y="2194560"/>
            <a:ext cx="155448" cy="155448"/>
          </a:xfrm>
          <a:prstGeom prst="ellipse">
            <a:avLst/>
          </a:prstGeom>
          <a:solidFill>
            <a:srgbClr val="FF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257800"/>
            <a:ext cx="5852160" cy="457200"/>
          </a:xfrm>
          <a:prstGeom prst="rect">
            <a:avLst/>
          </a:prstGeom>
          <a:noFill/>
        </p:spPr>
        <p:txBody>
          <a:bodyPr wrap="square" anchor="t" lIns="0" rIns="0" tIns="0" bIns="0">
            <a:spAutoFit/>
          </a:bodyPr>
          <a:lstStyle/>
          <a:p>
            <a:pPr algn="l">
              <a:lnSpc>
                <a:spcPct val="100000"/>
              </a:lnSpc>
            </a:pPr>
            <a:r>
              <a:rPr sz="1400" b="1" i="1">
                <a:solidFill>
                  <a:srgbClr val="FF9E16"/>
                </a:solidFill>
                <a:latin typeface="Arial"/>
              </a:rPr>
              <a:t>Calibrate the people, not just the microscope.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i="0">
                <a:solidFill>
                  <a:srgbClr val="002C73"/>
                </a:solidFill>
                <a:latin typeface="Arial"/>
              </a:rPr>
              <a:t>We’ve already run a version of this</a:t>
            </a:r>
          </a:p>
        </p:txBody>
      </p:sp>
      <p:sp>
        <p:nvSpPr>
          <p:cNvPr id="3" name="TextBox 2"/>
          <p:cNvSpPr txBox="1"/>
          <p:nvPr/>
        </p:nvSpPr>
        <p:spPr>
          <a:xfrm>
            <a:off x="502920" y="1207008"/>
            <a:ext cx="10789920" cy="292608"/>
          </a:xfrm>
          <a:prstGeom prst="rect">
            <a:avLst/>
          </a:prstGeom>
          <a:noFill/>
        </p:spPr>
        <p:txBody>
          <a:bodyPr wrap="square" anchor="t" lIns="0" rIns="0" tIns="0" bIns="0">
            <a:spAutoFit/>
          </a:bodyPr>
          <a:lstStyle/>
          <a:p>
            <a:pPr algn="l">
              <a:lnSpc>
                <a:spcPct val="100000"/>
              </a:lnSpc>
            </a:pPr>
            <a:r>
              <a:rPr sz="1200" b="1" i="0">
                <a:solidFill>
                  <a:srgbClr val="FF9E16"/>
                </a:solidFill>
                <a:latin typeface="Arial"/>
              </a:rPr>
              <a:t>THE SUBSTRATE, AND THE TEST</a:t>
            </a:r>
          </a:p>
        </p:txBody>
      </p:sp>
      <p:sp>
        <p:nvSpPr>
          <p:cNvPr id="4" name="TextBox 3"/>
          <p:cNvSpPr txBox="1"/>
          <p:nvPr/>
        </p:nvSpPr>
        <p:spPr>
          <a:xfrm>
            <a:off x="685800" y="1828800"/>
            <a:ext cx="10817352" cy="457200"/>
          </a:xfrm>
          <a:prstGeom prst="rect">
            <a:avLst/>
          </a:prstGeom>
          <a:noFill/>
        </p:spPr>
        <p:txBody>
          <a:bodyPr wrap="square" anchor="t" lIns="0" rIns="0" tIns="0" bIns="0">
            <a:spAutoFit/>
          </a:bodyPr>
          <a:lstStyle/>
          <a:p>
            <a:pPr algn="l">
              <a:lnSpc>
                <a:spcPct val="100000"/>
              </a:lnSpc>
            </a:pPr>
            <a:r>
              <a:rPr sz="1700" b="1" i="0">
                <a:solidFill>
                  <a:srgbClr val="002C73"/>
                </a:solidFill>
                <a:latin typeface="Arial"/>
              </a:rPr>
              <a:t>A calibration mechanism already shipped — the predictive version is the open part.</a:t>
            </a:r>
          </a:p>
        </p:txBody>
      </p:sp>
      <p:sp>
        <p:nvSpPr>
          <p:cNvPr id="5" name="Rounded Rectangle 4"/>
          <p:cNvSpPr/>
          <p:nvPr/>
        </p:nvSpPr>
        <p:spPr>
          <a:xfrm>
            <a:off x="685800" y="2606040"/>
            <a:ext cx="5120640" cy="1874519"/>
          </a:xfrm>
          <a:prstGeom prst="roundRect">
            <a:avLst>
              <a:gd name="adj" fmla="val 6000"/>
            </a:avLst>
          </a:prstGeom>
          <a:solidFill>
            <a:srgbClr val="FFFFFF"/>
          </a:solidFill>
          <a:ln w="12700">
            <a:solidFill>
              <a:srgbClr val="D8DEE7"/>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256032" bIns="256032"/>
          <a:lstStyle/>
          <a:p>
            <a:pPr algn="l">
              <a:lnSpc>
                <a:spcPct val="108000"/>
              </a:lnSpc>
            </a:pPr>
            <a:r>
              <a:rPr sz="1200" b="1" i="0">
                <a:solidFill>
                  <a:srgbClr val="5E6B7E"/>
                </a:solidFill>
                <a:latin typeface="Arial"/>
              </a:rPr>
              <a:t>ALREADY DEPLOYED</a:t>
            </a:r>
          </a:p>
          <a:p>
            <a:pPr algn="l">
              <a:lnSpc>
                <a:spcPct val="108000"/>
              </a:lnSpc>
            </a:pPr>
            <a:r>
              <a:rPr sz="500" b="0" i="0">
                <a:solidFill>
                  <a:srgbClr val="5E6B7E"/>
                </a:solidFill>
                <a:latin typeface="Arial"/>
              </a:rPr>
              <a:t/>
            </a:r>
          </a:p>
          <a:p>
            <a:pPr algn="l">
              <a:lnSpc>
                <a:spcPct val="108000"/>
              </a:lnSpc>
            </a:pPr>
            <a:r>
              <a:rPr sz="1650" b="1" i="0">
                <a:solidFill>
                  <a:srgbClr val="002C73"/>
                </a:solidFill>
                <a:latin typeface="Arial"/>
              </a:rPr>
              <a:t>Staged promotion by agreement</a:t>
            </a:r>
          </a:p>
          <a:p>
            <a:pPr algn="l">
              <a:lnSpc>
                <a:spcPct val="108000"/>
              </a:lnSpc>
            </a:pPr>
            <a:r>
              <a:rPr sz="400" b="0" i="0">
                <a:solidFill>
                  <a:srgbClr val="5E6B7E"/>
                </a:solidFill>
                <a:latin typeface="Arial"/>
              </a:rPr>
              <a:t/>
            </a:r>
          </a:p>
          <a:p>
            <a:pPr algn="l">
              <a:lnSpc>
                <a:spcPct val="108000"/>
              </a:lnSpc>
            </a:pPr>
            <a:r>
              <a:rPr sz="1300" b="0" i="0">
                <a:solidFill>
                  <a:srgbClr val="5E6B7E"/>
                </a:solidFill>
                <a:latin typeface="Arial"/>
              </a:rPr>
              <a:t>On Minnie65: students promoted to expert tasks once their decisions agreed. (NeuVue)</a:t>
            </a:r>
          </a:p>
        </p:txBody>
      </p:sp>
      <p:sp>
        <p:nvSpPr>
          <p:cNvPr id="6" name="Rounded Rectangle 5"/>
          <p:cNvSpPr/>
          <p:nvPr/>
        </p:nvSpPr>
        <p:spPr>
          <a:xfrm>
            <a:off x="6400800" y="2606040"/>
            <a:ext cx="5120640" cy="1874519"/>
          </a:xfrm>
          <a:prstGeom prst="roundRect">
            <a:avLst>
              <a:gd name="adj" fmla="val 6000"/>
            </a:avLst>
          </a:prstGeom>
          <a:solidFill>
            <a:srgbClr val="FFEACB"/>
          </a:solidFill>
          <a:ln w="19050">
            <a:solidFill>
              <a:srgbClr val="FF9E16"/>
            </a:solidFill>
          </a:ln>
          <a:effectLst/>
        </p:spPr>
        <p:style>
          <a:lnRef idx="1">
            <a:schemeClr val="accent1"/>
          </a:lnRef>
          <a:fillRef idx="3">
            <a:schemeClr val="accent1"/>
          </a:fillRef>
          <a:effectRef idx="2">
            <a:schemeClr val="accent1"/>
          </a:effectRef>
          <a:fontRef idx="minor">
            <a:schemeClr val="lt1"/>
          </a:fontRef>
        </p:style>
        <p:txBody>
          <a:bodyPr rtlCol="0" anchor="t" wrap="square" lIns="365760" rIns="365760" tIns="256032" bIns="256032"/>
          <a:lstStyle/>
          <a:p>
            <a:pPr algn="l">
              <a:lnSpc>
                <a:spcPct val="108000"/>
              </a:lnSpc>
            </a:pPr>
            <a:r>
              <a:rPr sz="1200" b="1" i="0">
                <a:solidFill>
                  <a:srgbClr val="FF9E16"/>
                </a:solidFill>
                <a:latin typeface="Arial"/>
              </a:rPr>
              <a:t>THIS SUMMER</a:t>
            </a:r>
          </a:p>
          <a:p>
            <a:pPr algn="l">
              <a:lnSpc>
                <a:spcPct val="108000"/>
              </a:lnSpc>
            </a:pPr>
            <a:r>
              <a:rPr sz="500" b="0" i="0">
                <a:solidFill>
                  <a:srgbClr val="5E6B7E"/>
                </a:solidFill>
                <a:latin typeface="Arial"/>
              </a:rPr>
              <a:t/>
            </a:r>
          </a:p>
          <a:p>
            <a:pPr algn="l">
              <a:lnSpc>
                <a:spcPct val="108000"/>
              </a:lnSpc>
            </a:pPr>
            <a:r>
              <a:rPr sz="1650" b="1" i="0">
                <a:solidFill>
                  <a:srgbClr val="002C73"/>
                </a:solidFill>
                <a:latin typeface="Arial"/>
              </a:rPr>
              <a:t>The predictive test</a:t>
            </a:r>
          </a:p>
          <a:p>
            <a:pPr algn="l">
              <a:lnSpc>
                <a:spcPct val="108000"/>
              </a:lnSpc>
            </a:pPr>
            <a:r>
              <a:rPr sz="400" b="0" i="0">
                <a:solidFill>
                  <a:srgbClr val="5E6B7E"/>
                </a:solidFill>
                <a:latin typeface="Arial"/>
              </a:rPr>
              <a:t/>
            </a:r>
          </a:p>
          <a:p>
            <a:pPr algn="l">
              <a:lnSpc>
                <a:spcPct val="108000"/>
              </a:lnSpc>
            </a:pPr>
            <a:r>
              <a:rPr sz="1300" b="0" i="0">
                <a:solidFill>
                  <a:srgbClr val="5E6B7E"/>
                </a:solidFill>
                <a:latin typeface="Arial"/>
              </a:rPr>
              <a:t>Predict competence from early behavior, pre-registered — not promote after the fact.</a:t>
            </a:r>
          </a:p>
        </p:txBody>
      </p:sp>
      <p:cxnSp>
        <p:nvCxnSpPr>
          <p:cNvPr id="7" name="Connector 6"/>
          <p:cNvCxnSpPr/>
          <p:nvPr/>
        </p:nvCxnSpPr>
        <p:spPr>
          <a:xfrm>
            <a:off x="5852160" y="3547872"/>
            <a:ext cx="502920" cy="0"/>
          </a:xfrm>
          <a:prstGeom prst="line">
            <a:avLst/>
          </a:prstGeom>
          <a:ln w="31750">
            <a:solidFill>
              <a:srgbClr val="FF9E1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4846320"/>
            <a:ext cx="10817352" cy="640080"/>
          </a:xfrm>
          <a:prstGeom prst="rect">
            <a:avLst/>
          </a:prstGeom>
          <a:noFill/>
        </p:spPr>
        <p:txBody>
          <a:bodyPr wrap="square" anchor="t" lIns="0" rIns="0" tIns="0" bIns="0">
            <a:spAutoFit/>
          </a:bodyPr>
          <a:lstStyle/>
          <a:p>
            <a:pPr algn="l">
              <a:lnSpc>
                <a:spcPct val="100000"/>
              </a:lnSpc>
            </a:pPr>
            <a:r>
              <a:rPr sz="1350" b="0" i="1">
                <a:solidFill>
                  <a:srgbClr val="222831"/>
                </a:solidFill>
                <a:latin typeface="Arial"/>
              </a:rPr>
              <a:t>Promotion-after-agreement is selection on outcome. The open question is whether we can predict it early — and if not, the idea fails, and I’ll say so.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400" b="1" i="0">
                <a:solidFill>
                  <a:srgbClr val="FFFFFF"/>
                </a:solidFill>
                <a:latin typeface="Arial"/>
              </a:rPr>
              <a:t>Proofreading is an optimization problem.</a:t>
            </a:r>
          </a:p>
        </p:txBody>
      </p:sp>
      <p:sp>
        <p:nvSpPr>
          <p:cNvPr id="3" name="Subtitle 2"/>
          <p:cNvSpPr>
            <a:spLocks noGrp="1"/>
          </p:cNvSpPr>
          <p:nvPr>
            <p:ph type="subTitle" idx="1"/>
          </p:nvPr>
        </p:nvSpPr>
        <p:spPr/>
        <p:txBody>
          <a:bodyPr/>
          <a:lstStyle/>
          <a:p>
            <a:r>
              <a:rPr sz="1600" b="1" i="0">
                <a:solidFill>
                  <a:srgbClr val="FF9E16"/>
                </a:solidFill>
                <a:latin typeface="Arial"/>
              </a:rPr>
              <a:t>The missing piece is the price of human judgment.</a:t>
            </a:r>
          </a:p>
        </p:txBody>
      </p:sp>
      <p:sp>
        <p:nvSpPr>
          <p:cNvPr id="4" name="Text Placeholder 3"/>
          <p:cNvSpPr>
            <a:spLocks noGrp="1"/>
          </p:cNvSpPr>
          <p:nvPr>
            <p:ph type="body" idx="13" sz="quarter"/>
          </p:nvPr>
        </p:nvSpPr>
        <p:spPr/>
        <p:txBody>
          <a:bodyPr/>
          <a:lstStyle/>
          <a:p>
            <a:r>
              <a:rPr sz="1300" b="0" i="0">
                <a:solidFill>
                  <a:srgbClr val="CBD6E6"/>
                </a:solidFill>
                <a:latin typeface="Arial"/>
              </a:rPr>
              <a:t>Calibrate the people, not just the microscope.</a:t>
            </a:r>
          </a:p>
          <a:p>
            <a:r>
              <a:rPr sz="1300" b="0" i="0">
                <a:solidFill>
                  <a:srgbClr val="CBD6E6"/>
                </a:solidFill>
                <a:latin typeface="Arial"/>
              </a:rPr>
              <a:t/>
            </a:r>
          </a:p>
          <a:p>
            <a:r>
              <a:rPr sz="1300" b="0" i="0">
                <a:solidFill>
                  <a:srgbClr val="CBD6E6"/>
                </a:solidFill>
                <a:latin typeface="Arial"/>
              </a:rPr>
              <a:t>Thank you.</a:t>
            </a:r>
          </a:p>
        </p:txBody>
      </p:sp>
    </p:spTree>
  </p:cSld>
  <p:clrMapOvr>
    <a:masterClrMapping/>
  </p:clrMapOvr>
</p:sld>
</file>

<file path=ppt/theme/theme1.xml><?xml version="1.0" encoding="utf-8"?>
<a:theme xmlns:a="http://schemas.openxmlformats.org/drawingml/2006/main" name="APL-PowerPoint-Theme_light">
  <a:themeElements>
    <a:clrScheme name="Custom 24">
      <a:dk1>
        <a:srgbClr val="000000"/>
      </a:dk1>
      <a:lt1>
        <a:srgbClr val="FFFFFF"/>
      </a:lt1>
      <a:dk2>
        <a:srgbClr val="44546A"/>
      </a:dk2>
      <a:lt2>
        <a:srgbClr val="E7E6E6"/>
      </a:lt2>
      <a:accent1>
        <a:srgbClr val="002C73"/>
      </a:accent1>
      <a:accent2>
        <a:srgbClr val="3E8EDE"/>
      </a:accent2>
      <a:accent3>
        <a:srgbClr val="74AA50"/>
      </a:accent3>
      <a:accent4>
        <a:srgbClr val="D2D755"/>
      </a:accent4>
      <a:accent5>
        <a:srgbClr val="FF9E16"/>
      </a:accent5>
      <a:accent6>
        <a:srgbClr val="E03C30"/>
      </a:accent6>
      <a:hlink>
        <a:srgbClr val="0537FF"/>
      </a:hlink>
      <a:folHlink>
        <a:srgbClr val="953A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solidFill>
            <a:schemeClr val="accent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ln w="19050">
          <a:noFill/>
        </a:ln>
      </a:spPr>
      <a:bodyPr wrap="square" rtlCol="0">
        <a:spAutoFit/>
      </a:bodyPr>
      <a:lstStyle>
        <a:defPPr>
          <a:defRPr sz="2000" dirty="0" err="1" smtClean="0">
            <a:solidFill>
              <a:schemeClr val="tx2">
                <a:lumMod val="75000"/>
              </a:schemeClr>
            </a:solidFill>
          </a:defRPr>
        </a:defPPr>
      </a:lstStyle>
    </a:txDef>
  </a:objectDefaults>
  <a:extraClrSchemeLst/>
  <a:extLst>
    <a:ext uri="{05A4C25C-085E-4340-85A3-A5531E510DB2}">
      <thm15:themeFamily xmlns:thm15="http://schemas.microsoft.com/office/thememl/2012/main" name="Presentation26" id="{16C812F3-2FAC-5A45-BDAF-C812BAE1DAA2}" vid="{8F7B72D4-A8C2-6840-876C-3FF5A50C17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245898F-F176-C149-88E5-1F1E3235BC2C}">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757BFD2CB1E744298C1AF8AA7379FF3" ma:contentTypeVersion="2" ma:contentTypeDescription="Create a new document." ma:contentTypeScope="" ma:versionID="15c23ae1aff2a31a8746ac30c25ad53f">
  <xsd:schema xmlns:xsd="http://www.w3.org/2001/XMLSchema" xmlns:xs="http://www.w3.org/2001/XMLSchema" xmlns:p="http://schemas.microsoft.com/office/2006/metadata/properties" xmlns:ns1="http://schemas.microsoft.com/sharepoint/v3" xmlns:ns2="http://schemas.microsoft.com/sharepoint/v4" targetNamespace="http://schemas.microsoft.com/office/2006/metadata/properties" ma:root="true" ma:fieldsID="0ebe41797ef7d785f7ee00a308cc1d4d" ns1:_="" ns2:_="">
    <xsd:import namespace="http://schemas.microsoft.com/sharepoint/v3"/>
    <xsd:import namespace="http://schemas.microsoft.com/sharepoint/v4"/>
    <xsd:element name="properties">
      <xsd:complexType>
        <xsd:sequence>
          <xsd:element name="documentManagement">
            <xsd:complexType>
              <xsd:all>
                <xsd:element ref="ns1:PublishingStartDate" minOccurs="0"/>
                <xsd:element ref="ns1:PublishingExpirationDate" minOccurs="0"/>
                <xsd:element ref="ns2: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0"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911D45-17A0-45A6-A22C-53F5573CA735}">
  <ds:schemaRefs>
    <ds:schemaRef ds:uri="http://schemas.microsoft.com/office/2006/metadata/properties"/>
    <ds:schemaRef ds:uri="http://schemas.microsoft.com/office/infopath/2007/PartnerControls"/>
    <ds:schemaRef ds:uri="http://schemas.microsoft.com/sharepoint/v4"/>
    <ds:schemaRef ds:uri="http://schemas.microsoft.com/sharepoint/v3"/>
  </ds:schemaRefs>
</ds:datastoreItem>
</file>

<file path=customXml/itemProps2.xml><?xml version="1.0" encoding="utf-8"?>
<ds:datastoreItem xmlns:ds="http://schemas.openxmlformats.org/officeDocument/2006/customXml" ds:itemID="{315DBFC5-D377-49F5-9682-C93407E8475C}">
  <ds:schemaRefs>
    <ds:schemaRef ds:uri="http://schemas.microsoft.com/sharepoint/v3/contenttype/forms"/>
  </ds:schemaRefs>
</ds:datastoreItem>
</file>

<file path=customXml/itemProps3.xml><?xml version="1.0" encoding="utf-8"?>
<ds:datastoreItem xmlns:ds="http://schemas.openxmlformats.org/officeDocument/2006/customXml" ds:itemID="{4AA6DDF8-B058-4ED7-BDF4-785C140BC0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Basic-Template_Light-Theme_16x9</Template>
  <TotalTime>6781</TotalTime>
  <Words>13</Words>
  <Application>Microsoft Macintosh PowerPoint</Application>
  <PresentationFormat>Widescreen</PresentationFormat>
  <Paragraphs>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.AppleSystemUIFont</vt:lpstr>
      <vt:lpstr>Arial</vt:lpstr>
      <vt:lpstr>Calibri</vt:lpstr>
      <vt:lpstr>Courier New</vt:lpstr>
      <vt:lpstr>Helvetica</vt:lpstr>
      <vt:lpstr>Wingdings</vt:lpstr>
      <vt:lpstr>APL-PowerPoint-Theme_light</vt:lpstr>
      <vt:lpstr>Accelerating Critical  Contributions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NET@APL</dc:title>
  <dc:subject/>
  <dc:creator>Cervantes, Martha I.</dc:creator>
  <cp:keywords/>
  <dc:description>Version 1.0</dc:description>
  <cp:lastModifiedBy>William R. Gray Roncal</cp:lastModifiedBy>
  <cp:revision>40</cp:revision>
  <cp:lastPrinted>2025-09-17T20:41:37Z</cp:lastPrinted>
  <dcterms:created xsi:type="dcterms:W3CDTF">2024-06-24T16:19:18Z</dcterms:created>
  <dcterms:modified xsi:type="dcterms:W3CDTF">2026-06-23T04:40:10Z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0x0101009757BFD2CB1E744298C1AF8AA7379FF3</vt:lpwstr>
  </property>
</Properties>
</file>